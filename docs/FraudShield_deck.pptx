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E293B"/>
                </a:solidFill>
                <a:latin typeface="Arial"/>
              </a:rPr>
              <a:t>Costo total operando en cada threshold (val)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Costo total (USD val)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F1* (0.6642)</c:v>
                  </c:pt>
                  <c:pt idx="1">
                    <c:v>Min costo (0.52)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65730</c:v>
                </c:pt>
                <c:pt idx="1">
                  <c:v>18032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502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40080" y="173736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gestionado de antifraude</a:t>
            </a:r>
            <a:endParaRPr lang="en-US" sz="3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PyMEs e-commerce mexicanas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3108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Capturamos el 94% del fraude — sin que la PyME opere nada.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43891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· Data Science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fraude en e-commerce mexicano es masivo y crece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$3,410M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" y="26060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 en contracargos en e-commerce mexicano (2024)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CONDUSEF vía Tiendanube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937760" y="1463040"/>
            <a:ext cx="132588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3480" y="1554480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0.46%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983480" y="2176272"/>
            <a:ext cx="1234440" cy="35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fraude e-commerce MX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355080" y="1463040"/>
            <a:ext cx="132588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54480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176272"/>
            <a:ext cx="1234440" cy="35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revenue se gasta en fraude (LATAM)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0" y="1463040"/>
            <a:ext cx="914400" cy="10972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18120" y="155448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$4.61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818120" y="2176272"/>
            <a:ext cx="822960" cy="35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perdido por cada $1 de fraude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37760" y="2788920"/>
            <a:ext cx="3749040" cy="6400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LATAM es la región del mundo que más gasta en gestión de fraude.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7033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no se está resolviendo: el fraude crece más rápido que las herramientas para combatirlo.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PyMEs e-commerce, cada contracargo representa entre el 0.5% y el 2% de su facturación mensual.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RAÍZ · 5 WHYS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este problema no se resuelve para PyMEs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35608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356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97280" y="1371600"/>
            <a:ext cx="75895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1417320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la PyME pierde dinero por fraude?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Porque acepta pagos sin un filtro real adecuado.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066544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0665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97280" y="2002536"/>
            <a:ext cx="75895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4440" y="2048256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tiene un filtro adecuado?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Porque su procesador (Conekta, MP) ofrece ML genérico, no servicio dedicado.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697480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697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97280" y="2633472"/>
            <a:ext cx="75895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34440" y="267919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le dan algo más fuerte?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Porque su volumen no justifica un equipo de fraude propio o un enterprise contract.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328416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284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097280" y="3264408"/>
            <a:ext cx="75895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34440" y="33101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hay opciones managed para PyMEs?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Porque ClearSale, Signifyd, Riskified apuntan a clientes &gt;$10M USD/año.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59352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9593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97280" y="3895344"/>
            <a:ext cx="7589520" cy="566928"/>
          </a:xfrm>
          <a:prstGeom prst="roundRect">
            <a:avLst>
              <a:gd name="adj" fmla="val 8065"/>
            </a:avLst>
          </a:prstGeom>
          <a:solidFill>
            <a:srgbClr val="F1F5F9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34440" y="3941064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nadie ataca este segmento?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Porque la cola larga es difícil de servir con costos enterprise. Hueco estructural.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DEL PROBLEMA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comercio paga el contracargo, no el banco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514246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508760"/>
            <a:ext cx="15142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Comprador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1514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 de tarjeta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980590" y="1751076"/>
            <a:ext cx="146304" cy="109728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36038" y="1417320"/>
            <a:ext cx="151424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36038" y="1508760"/>
            <a:ext cx="15142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emisor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36038" y="1828800"/>
            <a:ext cx="1514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comprador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9429" y="1751076"/>
            <a:ext cx="146304" cy="109728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14877" y="1417320"/>
            <a:ext cx="1514246" cy="777240"/>
          </a:xfrm>
          <a:prstGeom prst="roundRect">
            <a:avLst>
              <a:gd name="adj" fmla="val 9412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14877" y="1508760"/>
            <a:ext cx="15142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/ Master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814877" y="1828800"/>
            <a:ext cx="1514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de tarjetas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38267" y="1751076"/>
            <a:ext cx="146304" cy="109728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93715" y="1417320"/>
            <a:ext cx="1514246" cy="777240"/>
          </a:xfrm>
          <a:prstGeom prst="roundRect">
            <a:avLst>
              <a:gd name="adj" fmla="val 9412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93715" y="1508760"/>
            <a:ext cx="15142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Adquirente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93715" y="1828800"/>
            <a:ext cx="1514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Conekta, MP, Stripe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017106" y="1751076"/>
            <a:ext cx="146304" cy="109728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72554" y="1417320"/>
            <a:ext cx="1514246" cy="777240"/>
          </a:xfrm>
          <a:prstGeom prst="roundRect">
            <a:avLst>
              <a:gd name="adj" fmla="val 9412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72554" y="1508760"/>
            <a:ext cx="15142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72554" y="1828800"/>
            <a:ext cx="1514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 al final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2331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Reclama  →  2. Inicia contracargo  →  3. Notifica  →  4. Retira fondos del comercio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2880360"/>
            <a:ext cx="8229600" cy="1645920"/>
          </a:xfrm>
          <a:prstGeom prst="roundRect">
            <a:avLst>
              <a:gd name="adj" fmla="val 444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29718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pierde la PyME en cada contracargo: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77240" y="3337560"/>
            <a:ext cx="76809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 completo de la transacción + mercadería ya enviada.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Comisión de chargeback de USD $20–100 (la cobra el emisor, no se reembolsa).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Comisión original de procesamiento (no se reembolsa aunque gane la disputa).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el 21% de las disputas se ganan globalmente. El resto: pérdida total.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23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TARGET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PyMEs e-commerce que están solas frente al fraude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297680" cy="3246120"/>
          </a:xfrm>
          <a:prstGeom prst="roundRect">
            <a:avLst>
              <a:gd name="adj" fmla="val 225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del cliente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19659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negocio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331720" y="19659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PyME e-commerce mexicana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23317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331720" y="2331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Shopify, Tiendanube, WooCommerce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6974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331720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– 2,000 transacciones/mes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0632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total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331720" y="30632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– 5 personas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29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antifraude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331720" y="34290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(no se lo pueden permitir)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7947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331720" y="37947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dueño del e-commerce o junior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4160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técnico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331720" y="4160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 en fraude / ML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937760" y="1371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 del segmento en México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4937760" y="17830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983480" y="1874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80,000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4983480" y="237744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tiendas online en MX (INEGI)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858000" y="17830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03720" y="1874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67.2M</a:t>
            </a:r>
            <a:endParaRPr lang="en-US" sz="3200" dirty="0"/>
          </a:p>
        </p:txBody>
      </p:sp>
      <p:sp>
        <p:nvSpPr>
          <p:cNvPr id="27" name="Text 24"/>
          <p:cNvSpPr/>
          <p:nvPr/>
        </p:nvSpPr>
        <p:spPr>
          <a:xfrm>
            <a:off x="6903720" y="237744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compradores online MX (AMVO 2024)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937760" y="278892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983480" y="28803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$789,700M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4983480" y="33832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 e-commerce MX 2024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858000" y="278892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28803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$756</a:t>
            </a:r>
            <a:endParaRPr lang="en-US" sz="3200" dirty="0"/>
          </a:p>
        </p:txBody>
      </p:sp>
      <p:sp>
        <p:nvSpPr>
          <p:cNvPr id="33" name="Text 30"/>
          <p:cNvSpPr/>
          <p:nvPr/>
        </p:nvSpPr>
        <p:spPr>
          <a:xfrm>
            <a:off x="6903720" y="33832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promedio MXN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937760" y="3822192"/>
            <a:ext cx="3749040" cy="777240"/>
          </a:xfrm>
          <a:prstGeom prst="roundRect">
            <a:avLst>
              <a:gd name="adj" fmla="val 7059"/>
            </a:avLst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3950208"/>
            <a:ext cx="256032" cy="256032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5440680" y="38862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 larga desatendida: las soluciones existentes apuntan a clientes &gt;$10M USD/año.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23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NUESTRA PROPUESTA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gestionado de antifraude — no software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PyME no opera nada. Nosotros nos encargamos.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26060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13332" y="1719072"/>
            <a:ext cx="493776" cy="493776"/>
          </a:xfrm>
          <a:prstGeom prst="ellipse">
            <a:avLst/>
          </a:prstGeom>
          <a:solidFill>
            <a:srgbClr val="02809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13332" y="171907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1620" y="2331720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29260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asistida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94360" y="3246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 checkout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35661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Nuestro equipo conecta la API a su Shopify / Tiendanube / WooCommerce en 2-4 horas. Cero código del lado del cliente.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37560" y="1965960"/>
            <a:ext cx="26060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93692" y="1719072"/>
            <a:ext cx="493776" cy="493776"/>
          </a:xfrm>
          <a:prstGeom prst="ellipse">
            <a:avLst/>
          </a:prstGeom>
          <a:solidFill>
            <a:srgbClr val="02809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393692" y="171907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980" y="233172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474720" y="29260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automáticas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3474720" y="3246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+ analista interno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3520440" y="35661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decide en &lt;300ms. Casos ambiguos los revisa nuestro analista de fraude. Cliente fuera del loop.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217920" y="1965960"/>
            <a:ext cx="26060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274052" y="1719072"/>
            <a:ext cx="493776" cy="493776"/>
          </a:xfrm>
          <a:prstGeom prst="ellipse">
            <a:avLst/>
          </a:prstGeom>
          <a:solidFill>
            <a:srgbClr val="02809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274052" y="171907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2340" y="2331720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355080" y="29260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quincenal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6355080" y="3246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+ email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6400800" y="35661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15 días el cliente recibe el resumen: cuánto le ahorramos + razón de cada caso revisado por el analista.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paga para olvidarse del problema, no para aprender a operar otro software.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23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JOURNEY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momentos del cliente PyME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856232"/>
            <a:ext cx="676656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667512" y="1609344"/>
            <a:ext cx="493776" cy="493776"/>
          </a:xfrm>
          <a:prstGeom prst="ellipse">
            <a:avLst/>
          </a:prstGeom>
          <a:solidFill>
            <a:srgbClr val="FB718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160934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" y="7772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Descubre el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7160" y="228600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4to contracargo del mes. Busca solución, encuentra nuestro sitio.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359152" y="1609344"/>
            <a:ext cx="493776" cy="493776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59152" y="160934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828800" y="7772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asistida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828800" y="228600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 inicial 30 min. Nuestro equipo integra la API en 2-4 hrs.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050792" y="1609344"/>
            <a:ext cx="493776" cy="493776"/>
          </a:xfrm>
          <a:prstGeom prst="ellipse">
            <a:avLst/>
          </a:prstGeom>
          <a:solidFill>
            <a:srgbClr val="8B5CF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50792" y="160934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520440" y="7772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520440" y="228600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15: llega el reporte por email. Ve casos resueltos, decisiones explicadas.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742432" y="1609344"/>
            <a:ext cx="493776" cy="493776"/>
          </a:xfrm>
          <a:prstGeom prst="ellipse">
            <a:avLst/>
          </a:prstGeom>
          <a:solidFill>
            <a:srgbClr val="00A8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42432" y="160934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212080" y="7772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Operación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pasiva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228600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 su negocio. Cada 15 días recibe el reporte. WhatsApp si dudas.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434072" y="1609344"/>
            <a:ext cx="493776" cy="493776"/>
          </a:xfrm>
          <a:prstGeom prst="ellipse">
            <a:avLst/>
          </a:prstGeom>
          <a:solidFill>
            <a:srgbClr val="05966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34072" y="160934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903720" y="7772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Renueva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03720" y="228600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reportes muestran ROI. Switching cost alto: la API ya vive en su checkout.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160520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206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 clave: la PyME no opera el sistema. Solo recibe la integración, los reportes y respuestas a sus dudas.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23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RECIBE EL CLIENTE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quincenal por email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325880"/>
            <a:ext cx="7315200" cy="352044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5087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5087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QUINCENAL DE PROTECCION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417320" y="1709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Tienda Aurora · 16 al 30 de abril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949440" y="16002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8/26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097280" y="2103120"/>
            <a:ext cx="69494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2240280"/>
            <a:ext cx="2255520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43000" y="2331720"/>
            <a:ext cx="216408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$8,420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1143000" y="2745486"/>
            <a:ext cx="21640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ahorramos (MXN)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444240" y="2240280"/>
            <a:ext cx="2255520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89960" y="2331720"/>
            <a:ext cx="216408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312</a:t>
            </a:r>
            <a:endParaRPr lang="en-US" sz="3600" dirty="0"/>
          </a:p>
        </p:txBody>
      </p:sp>
      <p:sp>
        <p:nvSpPr>
          <p:cNvPr id="15" name="Text 12"/>
          <p:cNvSpPr/>
          <p:nvPr/>
        </p:nvSpPr>
        <p:spPr>
          <a:xfrm>
            <a:off x="3489960" y="2745486"/>
            <a:ext cx="21640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revisados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791200" y="2240280"/>
            <a:ext cx="2255520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36920" y="2331720"/>
            <a:ext cx="216408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5836920" y="2745486"/>
            <a:ext cx="21640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falsos positivos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097280" y="3154680"/>
            <a:ext cx="6949440" cy="4114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188720" y="32004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312 pedidos: 305 aprobados auto · 4 bloqueados auto · 3 escalados al analista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097280" y="3657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revisados por tu analista (Mariana Lopez)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1097280" y="3977640"/>
            <a:ext cx="6949440" cy="77724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188720" y="402336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#4821 · $2,450 MXN  </a:t>
            </a:r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BLOQUEADO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 5x sobre el promedio · 03:42 AM · Tarjeta nunca compro desde esta ciudad.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Mariana intento contactar al titular, no respondio. Patron clasico de tarjeta robada.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23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VE NUESTRO ANALISTA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 interna de revision de casos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1325880"/>
            <a:ext cx="6400800" cy="338328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645920" y="1508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#4821 · $2,450 MXN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0" y="1554480"/>
            <a:ext cx="1097280" cy="292608"/>
          </a:xfrm>
          <a:prstGeom prst="roundRect">
            <a:avLst>
              <a:gd name="adj" fmla="val 15625"/>
            </a:avLst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0" y="15544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45920" y="18745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 ****1234 · ELECTRONICA_XYZ · 03:42 AM · CDMX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645920" y="2240280"/>
            <a:ext cx="5852160" cy="91440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83080" y="228600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el modelo escalo esta transaccion: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920240" y="2532888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 5x superior al promedio de esta tarjeta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a las 03:42 - el fraude se concentra en horario nocturno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tarjeta nunca habia comprado desde esta ciudad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45920" y="3246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Historico (ultimas 5 tx): $180 · $220 · $95 · $310 · $2,450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645920" y="3657600"/>
            <a:ext cx="1691640" cy="384048"/>
          </a:xfrm>
          <a:prstGeom prst="roundRect">
            <a:avLst>
              <a:gd name="adj" fmla="val 11905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45920" y="365760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474720" y="3657600"/>
            <a:ext cx="1691640" cy="384048"/>
          </a:xfrm>
          <a:prstGeom prst="roundRect">
            <a:avLst>
              <a:gd name="adj" fmla="val 11905"/>
            </a:avLst>
          </a:prstGeom>
          <a:solidFill>
            <a:srgbClr val="FEE2E2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365760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303520" y="3657600"/>
            <a:ext cx="2706624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0" y="3657600"/>
            <a:ext cx="2706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Contactar al titular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645920" y="4160520"/>
            <a:ext cx="5852160" cy="50292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37360" y="4187952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Razon obligatoria: </a:t>
            </a:r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(aparecera textual en el reporte quincenal del cliente)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TECNICA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real-time end-to-end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558138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719072"/>
            <a:ext cx="1558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2057400"/>
            <a:ext cx="1466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checkout PyME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019910" y="1965960"/>
            <a:ext cx="100584" cy="91440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25066" y="1554480"/>
            <a:ext cx="1558138" cy="914400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25066" y="1719072"/>
            <a:ext cx="1558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Store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70786" y="2057400"/>
            <a:ext cx="1466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features anti-leakage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87775" y="1965960"/>
            <a:ext cx="100584" cy="91440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92931" y="1554480"/>
            <a:ext cx="1558138" cy="914400"/>
          </a:xfrm>
          <a:prstGeom prst="roundRect">
            <a:avLst>
              <a:gd name="adj" fmla="val 8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92931" y="1719072"/>
            <a:ext cx="1558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API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838651" y="2057400"/>
            <a:ext cx="1466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+ SHAP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55641" y="1965960"/>
            <a:ext cx="100584" cy="91440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60797" y="1554480"/>
            <a:ext cx="1558138" cy="914400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60797" y="1719072"/>
            <a:ext cx="1558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Engine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506517" y="2057400"/>
            <a:ext cx="1466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approve/escalate/block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023506" y="1965960"/>
            <a:ext cx="100584" cy="91440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28662" y="1554480"/>
            <a:ext cx="1558138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28662" y="1719072"/>
            <a:ext cx="1558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Management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74382" y="2057400"/>
            <a:ext cx="1466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interno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27432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300 ms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45720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latencia end-to-end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200400" y="27432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99.9%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320040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 Model API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43600" y="27432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tx/s</a:t>
            </a: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594360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por instancia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3950208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de retroalimentacion: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del analista -&gt; label -&gt; re-entreno trimestral con validacion canary 5%. 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quincenal al cliente con cada caso documentado.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ENGINE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caminos segun score del modelo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6459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&lt; 0.30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20574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Auto-aprobar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7889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riesgo, no friccionar al cliente legitimo. ~85% de las transacciones.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68980" y="141732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FEF3C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06140" y="16459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 &lt;= Score &lt; 0.85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406140" y="20574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 al analista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51860" y="27889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ambigua. Nuestro analista revisa con SHAP + contexto. ~13% del volumen.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80760" y="141732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16459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&gt;= 0.85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217920" y="20574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Auto-bloquear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263640" y="27889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confianza de fraude. El costo de un FP se justifica. ~2% del volumen.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09651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operativo del modelo: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0.6642 (F1 max sobre val). </a:t>
            </a:r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 en zona de escalamiento - el analista decide. El threshold de minimo costo (0.52) ahorra 73% vs el academico.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en GPU con 27 features anti-leakage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9748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544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58191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&amp; tuning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2057400"/>
            <a:ext cx="233172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2.1 (CUDA, hist)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scale_pos_weight=176 (no SMOTE)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Optuna 50 trials + MedianPruner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Calibrador isotonico (Brier 76x mejor)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tracking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91840" y="1417320"/>
            <a:ext cx="269748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55448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886200" y="158191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features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3474720" y="2057400"/>
            <a:ext cx="233172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Monto: log1p, p95 legit-train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Temporal: hour, dow, sin/cos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Geografica: distancia, velocidad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Historico rolling 1h/24h/7d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encoding KFold (4 cols)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126480" y="1417320"/>
            <a:ext cx="2697480" cy="2606040"/>
          </a:xfrm>
          <a:prstGeom prst="roundRect">
            <a:avLst>
              <a:gd name="adj" fmla="val 2807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55448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720840" y="158191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Anti-leakage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6309360" y="2057400"/>
            <a:ext cx="233172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closed='left' (excluye tx actual)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calculado solo en legitimas-train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encoding KFold + fit en train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Splits temporales 70/15/15 (no random)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tests passing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Entrenamiento full pipeline: ~10 min en GPU NVIDIA RTX 4060.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23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del 94% revisando solo el 1% del volumen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fraudes capturados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revisando el 1% mas sospechoso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(recall@1% en split test)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0" y="1417320"/>
            <a:ext cx="4114800" cy="3108960"/>
          </a:xfrm>
          <a:prstGeom prst="roundRect">
            <a:avLst>
              <a:gd name="adj" fmla="val 235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1554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Metricas en test (n=193,365)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2011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55080" y="201168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0.8771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178040" y="20116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base 0.58% -&gt; random ~0.006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754880" y="23957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239572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0.9923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178040" y="239572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techo del dataset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754880" y="277977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@ thr*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55080" y="2779776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178040" y="277977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 operativo = 0.6642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0" y="316382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@ thr*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316382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178040" y="316382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 de 100 alertas son fraude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54880" y="35478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@ 1%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55080" y="3547872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93.9x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78040" y="354787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top-1% concentra 94x mas fraude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754880" y="3931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val-&gt;test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55080" y="39319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pts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178040" y="39319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overfit en split temporal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23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COSTO-BENEFICIO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threshold de negocio ahorra 73% vs el threshold academico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71600"/>
          <a:ext cx="50292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137160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760720" y="14630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$47,698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760720" y="21214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ahorro USD en val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760720" y="23957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(-73% vs F1 max)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760720" y="2880360"/>
            <a:ext cx="2926080" cy="1417320"/>
          </a:xfrm>
          <a:prstGeom prst="roundRect">
            <a:avLst>
              <a:gd name="adj" fmla="val 3871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897880" y="294436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Asunciones del modelo de costo: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43600" y="3200400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= monto de la transaccion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= $5 USD (revision manual)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de threshold sobre val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threshold optimo es mas bajo (mas recall) porque el dolor por dejar pasar fraude es proporcional al monto.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23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EXPLAINABILITY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pilares que sustentan el servicio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659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160020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14884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Proteccion de datos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" y="25603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tokenizada · LFPDPPP · retencion limitada · consentimiento explicito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587752" y="1417320"/>
            <a:ext cx="19659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132" y="160020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679192" y="214884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 modelo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2724912" y="25603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card · SHAP por decision · razon humana en reporte quincenal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718304" y="1417320"/>
            <a:ext cx="19659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2684" y="160020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09744" y="214884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855464" y="25603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FPR por estado · grupo etario · vertical · monitoreo trimestral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6848856" y="1417320"/>
            <a:ext cx="19659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3236" y="1600200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0296" y="214884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Auditabilidad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6986016" y="25603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inmutable · trazabilidad · retencion 5 anios · reproducibilidad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457200" y="342900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640080" y="345643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 end-to-end: API -&gt; Feature Store -&gt; Model API -&gt; Decision Engine -&gt; Case Management -&gt; Reporte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4069080"/>
            <a:ext cx="8229600" cy="594360"/>
          </a:xfrm>
          <a:prstGeom prst="roundRect">
            <a:avLst>
              <a:gd name="adj" fmla="val 9231"/>
            </a:avLst>
          </a:prstGeom>
          <a:solidFill>
            <a:srgbClr val="FEE2E2"/>
          </a:solidFill>
          <a:ln w="6350">
            <a:solidFill>
              <a:srgbClr val="FB7185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640080" y="41148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regulatorio mexicano: </a:t>
            </a:r>
            <a:pPr algn="ctr" indent="0" marL="0">
              <a:buNone/>
            </a:pPr>
            <a:r>
              <a:rPr lang="en-US" sz="11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LFPDPPP (datos personales) · CNBV (outsourcing financiero) · Ley Fintech 2.0 (clasif. riesgo IA)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23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EN DETALLE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medimos y por que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594360"/>
          </a:xfrm>
          <a:prstGeom prst="roundRect">
            <a:avLst>
              <a:gd name="adj" fmla="val 9231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!= tratar a todos igual.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 que el modelo no comete errores sistematicamente mas frecuentes en ciertos grupos.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114800"/>
                <a:gridCol w="22860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 mide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Umbral de alerta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FPR por estado (32)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tasa de falsos positivos por entidad federativa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desviacion &gt;2x vs mediana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FPR por grupo etario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FPR por edad del titular (&lt;30 / 30-50 / 50+)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desviacion &gt;1.5x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FPR por vertical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FPR por categoria de comercio (top-10)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desviacion &gt;2x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por estado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sensibilidad del modelo por entidad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desviacion &gt;2x vs mediana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160520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51560" y="406908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 honesta: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usa target encoding por estado (te_state). Si historicamente ciertos estados tienen mas fraude, puede crear loop. Por eso medir FPR por estado es nuestra alerta mas importante.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23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DIFERENCIACION COMPETITIVA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Comparado con la competencia real del mercado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80160"/>
          <a:ext cx="84124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554480"/>
                <a:gridCol w="1645920"/>
                <a:gridCol w="24688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Banco propio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Stripe Radar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Conekta Fortress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Signifyd / ClearSale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FraudShield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Quien opera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Equipo interno banco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Comerciante self-service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Comerciante + soporte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Nosotros (managed)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Esfuerzo cliente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Medio (configurar)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 (RFP + integracion)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Minimo (recibe reportes)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Ciclo de venta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Self-service inmediato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6-12 meses, RFP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 + setup en 5 dias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$0.05-0.07/tx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contracts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Suscripcion mensual fija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 propia operacion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Cualquier merchant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&gt;$10M USD/anio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PyME 200-2K tx/mes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Soporte humano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(interno)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(analista enterprise)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(analista MX en espanol)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25196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ECFDF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4297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vende infraestructura para que otros operen. Nosotros operamos por el cliente. Es un producto distinto.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23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BARRERAS DE ENTRADA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entrar es dificil y por que replicarnos tambien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69080" cy="3108960"/>
          </a:xfrm>
          <a:prstGeom prst="roundRect">
            <a:avLst>
              <a:gd name="adj" fmla="val 2353"/>
            </a:avLst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508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nos cuesta entrar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85800" y="2011680"/>
            <a:ext cx="36118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Certificaciones tecnicas: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PCI-DSS no aplica directo (no tocamos PAN), pero SOC 2 + ISO 27001 son requisitos.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Adquisicion de cliente: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venta de 5-7 dias con demo + integracion asistida. CAC alto inicial.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Integracion con procesadores: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procesador (Conekta, MP, Stripe) es una integracion tecnica distinta.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de analistas: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necesitamos analistas desde el dia uno. Estructura fija, no costo variable.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17720" y="1325880"/>
            <a:ext cx="4069080" cy="3108960"/>
          </a:xfrm>
          <a:prstGeom prst="roundRect">
            <a:avLst>
              <a:gd name="adj" fmla="val 2353"/>
            </a:avLst>
          </a:prstGeom>
          <a:solidFill>
            <a:srgbClr val="ECFDF5"/>
          </a:solidFill>
          <a:ln w="6350">
            <a:solidFill>
              <a:srgbClr val="059669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5087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257800" y="1508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nos protege de copia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846320" y="2011680"/>
            <a:ext cx="36118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acumulados: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cliente nuevo mejora el modelo para todos. Compounding effect.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humano integrado: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Stripe/Conekta no lo tienen. Bancos no lo escalan a PyMEs. Foso operativo.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Switching cost del cliente: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ya integrada en checkout. Cambiar implica re-integrar y operar a riesgo.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Confianza personal: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conoce a su analista por nombre. No es relacion con software.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4526280"/>
            <a:ext cx="8229600" cy="292608"/>
          </a:xfrm>
          <a:prstGeom prst="roundRect">
            <a:avLst>
              <a:gd name="adj" fmla="val 18750"/>
            </a:avLst>
          </a:prstGeom>
          <a:solidFill>
            <a:srgbClr val="0B3D43"/>
          </a:solidFill>
          <a:ln w="12700">
            <a:solidFill>
              <a:srgbClr val="0B3D4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" y="452628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Validacion del mercado: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Experian compro ClearSale por USD $350M (oct 2024). Mercado fraud-detection LATAM crece 15.6% CAGR (USD 1.37B 2025 -&gt; USD 5.08B 2034).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23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SALVEDADES HONESTAS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es perfecto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51560" y="14173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Kaggle es semi-sintetico  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produccion esperar PR-AUC 0.55-0.70 en el primer mes (vs 0.87 en evaluacion).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2048256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984248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features dominadas por monto  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Vulnerable a smurfing: fraude que copia el monto tipico del titular puede pasar desapercibido.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615184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615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2551176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Productividad del analista es parametro critico  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sensibilidad genera 30 casos/sem por PyME, los costos del servicio explotan.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18211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3118104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Falso positivo es nuestro mayor riesgo de marca  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Bloquear a un cliente legitimo recurrente dana la marca de la PyME y nos la cargan a nosotros.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749040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3685032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servicio concentra responsabilidad  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diferencia de self-service, cada error operativo es nuestro. Exige rigor de governance.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FUTURA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de 12-24 meses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974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36192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5544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learning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20574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Entrenar el modelo entre clientes sin compartir datos. Cada PyME se beneficia del agregado.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218688" y="1371600"/>
            <a:ext cx="26974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568" y="1536192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858768" y="15544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fraud detection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3401568" y="20574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 transaccion-merchant-device-tarjeta como grafo. Captura fraud rings.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980176" y="1371600"/>
            <a:ext cx="26974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3056" y="1536192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620256" y="15544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Consortium intelligence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6163056" y="20574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senales de fraude entre PyMEs (sin PII). Tarjeta marcada en una alerta a las demas.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57200" y="3063240"/>
            <a:ext cx="26974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227832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97280" y="3246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learning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74904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Re-entreno incremental con chargebacks confirmados. Ajuste de sensibilidad near-real-time.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3218688" y="3063240"/>
            <a:ext cx="26974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01568" y="3227832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858768" y="3246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para casos complejos</a:t>
            </a:r>
            <a:endParaRPr lang="en-US" sz="1300" dirty="0"/>
          </a:p>
        </p:txBody>
      </p:sp>
      <p:sp>
        <p:nvSpPr>
          <p:cNvPr id="23" name="Text 16"/>
          <p:cNvSpPr/>
          <p:nvPr/>
        </p:nvSpPr>
        <p:spPr>
          <a:xfrm>
            <a:off x="3401568" y="374904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asistido por LLM. Sintesis de contexto reduce tiempo de resolucion 4-8 min a 1-2 min.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5980176" y="3063240"/>
            <a:ext cx="26974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3227832"/>
            <a:ext cx="365760" cy="36576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620256" y="3246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LATAM</a:t>
            </a:r>
            <a:endParaRPr lang="en-US" sz="1300" dirty="0"/>
          </a:p>
        </p:txBody>
      </p:sp>
      <p:sp>
        <p:nvSpPr>
          <p:cNvPr id="27" name="Text 19"/>
          <p:cNvSpPr/>
          <p:nvPr/>
        </p:nvSpPr>
        <p:spPr>
          <a:xfrm>
            <a:off x="6163056" y="374904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Replicar en Colombia, Argentina, Chile. Procesadores y plataformas similares.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23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57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TL;DR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Capturamos el 94% del fraude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revisando solo el 1% del volumen.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gestionado para PyMEs e-commerce mexicanas.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interno + modelo XGBoost + reporte quincenal.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PyME no opera nada, recibe la integracion y los resultados.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434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reproducible end-to-end · 14 tests passing · gap train-&gt;test = 1.2 pts PR-AUC.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1371600"/>
            <a:ext cx="91440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4688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6400" dirty="0"/>
          </a:p>
        </p:txBody>
      </p:sp>
      <p:sp>
        <p:nvSpPr>
          <p:cNvPr id="5" name="Text 2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de respaldo: customer_journey · arquitectura_realtime · governance_explainability · kpis_financieros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APENDICE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Municion preparada para Q&amp;A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365760" cy="36576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scale_pos_weight=176 vs SMOTE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tecnicamente correcta: re-pondera el gradiente sin sintetizar muestras.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3440" y="1325880"/>
            <a:ext cx="4023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325880"/>
            <a:ext cx="365760" cy="36576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1325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20640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Hiperparametros Optuna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737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max_depth=10, lr=0.193, min_child_weight=89.8, subsample=0.97, gamma=4.78.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423160"/>
            <a:ext cx="4023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423160"/>
            <a:ext cx="365760" cy="36576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14400" y="2468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paga el contracargo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4360" y="28346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comercio. Pierde monto + comision USD 20-100 + fee original. Solo 21% gana disputa.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2423160"/>
            <a:ext cx="4023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63440" y="2423160"/>
            <a:ext cx="365760" cy="36576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120640" y="2468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regulatorio MX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00600" y="28346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LFPDPPP (datos), CNBV outsourcing (2024), Ley Fintech 2.0 (clasif. riesgo IA).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520440"/>
            <a:ext cx="4023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520440"/>
            <a:ext cx="365760" cy="36576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14400" y="3566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Salvedad: dataset semi-sintetico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9319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produccion esperar PR-AUC 0.55-0.70 primer mes vs 0.87 en evaluacion.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3520440"/>
            <a:ext cx="4023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63440" y="3520440"/>
            <a:ext cx="365760" cy="36576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6344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A6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0" y="3566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analista / PyMEs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00600" y="39319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analista atiende 20-50 PyMEs. 60-100 casos/sem manejables. Sensibilidad calibra el volumen.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FraudShield — Servicio gestionado de antifraude para PyMEs e-commerce</dc:title>
  <dc:subject>PptxGenJS Presentation</dc:subject>
  <dc:creator>Capstone Data Science</dc:creator>
  <cp:lastModifiedBy>Capstone Data Science</cp:lastModifiedBy>
  <cp:revision>1</cp:revision>
  <dcterms:created xsi:type="dcterms:W3CDTF">2026-05-07T06:05:02Z</dcterms:created>
  <dcterms:modified xsi:type="dcterms:W3CDTF">2026-05-07T06:05:02Z</dcterms:modified>
</cp:coreProperties>
</file>
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charts/chart1.xml" ContentType="application/vnd.openxmlformats-officedocument.drawingml.chart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5" r:id="rId10"/>
    <p:sldId id="266" r:id="rId11"/>
    <p:sldId id="267" r:id="rId12"/>
    <p:sldId id="268" r:id="rId13"/>
    <p:sldId id="280" r:id="rId14"/>
    <p:sldId id="269" r:id="rId15"/>
    <p:sldId id="270" r:id="rId16"/>
    <p:sldId id="272" r:id="rId17"/>
    <p:sldId id="291" r:id="rId18"/>
    <p:sldId id="275" r:id="rId19"/>
    <p:sldId id="283" r:id="rId20"/>
    <p:sldId id="277" r:id="rId21"/>
    <p:sldId id="278" r:id="rId22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364"/>
    <p:restoredTop sz="94610"/>
  </p:normalViewPr>
  <p:slideViewPr>
    <p:cSldViewPr snapToGrid="0" snapToObjects="1">
      <p:cViewPr varScale="1">
        <p:scale>
          <a:sx n="110" d="100"/>
          <a:sy n="110" d="100"/>
        </p:scale>
        <p:origin x="176" y="8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Hoja_de_c_lculo_de_Microsoft_Excel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MX"/>
  <c:roundedCorners val="1"/>
  <c:style val="2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1E293B"/>
                </a:solidFill>
                <a:latin typeface="Arial"/>
              </a:defRPr>
            </a:pPr>
            <a:r>
              <a:rPr lang="es-MX" sz="1100" b="0" i="0" u="none" strike="noStrike">
                <a:solidFill>
                  <a:srgbClr val="1E293B"/>
                </a:solidFill>
                <a:latin typeface="Arial"/>
              </a:rPr>
              <a:t>Costo total operando en cada threshold (val)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Costo total (USD val)</c:v>
                </c:pt>
              </c:strCache>
            </c:strRef>
          </c:tx>
          <c:spPr>
            <a:solidFill>
              <a:srgbClr val="028090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A868-4049-B78E-D2FEEAB831E0}"/>
              </c:ext>
            </c:extLst>
          </c:dPt>
          <c:dPt>
            <c:idx val="1"/>
            <c:invertIfNegative val="0"/>
            <c:bubble3D val="0"/>
            <c:spPr>
              <a:solidFill>
                <a:srgbClr val="059669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A868-4049-B78E-D2FEEAB831E0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1E293B"/>
                    </a:solidFill>
                    <a:latin typeface="Arial"/>
                  </a:defRPr>
                </a:pPr>
                <a:endParaRPr lang="es-MX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F1* (0.6642)</c:v>
                </c:pt>
                <c:pt idx="1">
                  <c:v>Min costo (0.52)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65730</c:v>
                </c:pt>
                <c:pt idx="1">
                  <c:v>18032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A868-4049-B78E-D2FEEAB831E0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47556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75569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373997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4.sv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15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8.pn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3D4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548640"/>
            <a:ext cx="548640" cy="5486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25880" y="50292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kern="0" spc="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FRAUDSHIELD</a:t>
            </a:r>
            <a:endParaRPr lang="en-US" sz="3200" dirty="0"/>
          </a:p>
        </p:txBody>
      </p:sp>
      <p:sp>
        <p:nvSpPr>
          <p:cNvPr id="5" name="Text 2"/>
          <p:cNvSpPr/>
          <p:nvPr/>
        </p:nvSpPr>
        <p:spPr>
          <a:xfrm>
            <a:off x="640080" y="1737360"/>
            <a:ext cx="7863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600"/>
              </a:spcAft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Servicio gestionado de antifraude</a:t>
            </a:r>
            <a:endParaRPr lang="en-US" sz="3000" dirty="0"/>
          </a:p>
          <a:p>
            <a:pPr marL="0" indent="0" algn="l">
              <a:spcAft>
                <a:spcPts val="600"/>
              </a:spcAft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</a:t>
            </a:r>
            <a:r>
              <a:rPr lang="en-US" sz="30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pequeñas</a:t>
            </a: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30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empresas</a:t>
            </a: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e-commerce mexicanas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640080" y="310896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Capturamos el 94% del fraude — sin que la PyME opere nada.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640080" y="438912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· Data Science ·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4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PROBLEMA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fraude en e-commerce mexicano es </a:t>
            </a:r>
            <a:r>
              <a:rPr lang="en-US" sz="2800" b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masivo</a:t>
            </a:r>
            <a:r>
              <a:rPr lang="en-US" sz="2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364602" y="2011680"/>
            <a:ext cx="4114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$3,410M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364602" y="3230523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MXN en contracargos en e-commerce mexicano (2024)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64602" y="3629416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CONDUSEF vía Tiendanube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447110" y="1784447"/>
            <a:ext cx="2029222" cy="1340855"/>
          </a:xfrm>
          <a:prstGeom prst="roundRect">
            <a:avLst>
              <a:gd name="adj" fmla="val 6667"/>
            </a:avLst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8" name="Text 6"/>
          <p:cNvSpPr/>
          <p:nvPr/>
        </p:nvSpPr>
        <p:spPr>
          <a:xfrm>
            <a:off x="4305870" y="1992079"/>
            <a:ext cx="2029222" cy="7374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0.46% - 2.81%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4479402" y="2669893"/>
            <a:ext cx="1889275" cy="42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 revenue </a:t>
            </a:r>
            <a:r>
              <a:rPr lang="en-US" sz="10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anual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335092" y="1768105"/>
            <a:ext cx="1683450" cy="1340855"/>
          </a:xfrm>
          <a:prstGeom prst="roundRect">
            <a:avLst>
              <a:gd name="adj" fmla="val 6667"/>
            </a:avLst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11" name="Text 9"/>
          <p:cNvSpPr/>
          <p:nvPr/>
        </p:nvSpPr>
        <p:spPr>
          <a:xfrm>
            <a:off x="6058660" y="1969154"/>
            <a:ext cx="1889275" cy="7374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19%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058660" y="2646968"/>
            <a:ext cx="1889275" cy="42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 revenue se </a:t>
            </a:r>
            <a:r>
              <a:rPr lang="en-US" sz="10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pierde</a:t>
            </a: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</a:t>
            </a: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evitar</a:t>
            </a: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fraude</a:t>
            </a: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(LATAM)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7512934" y="1768105"/>
            <a:ext cx="1399463" cy="1340855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14" name="Text 12"/>
          <p:cNvSpPr/>
          <p:nvPr/>
        </p:nvSpPr>
        <p:spPr>
          <a:xfrm>
            <a:off x="7582274" y="1969154"/>
            <a:ext cx="1259517" cy="7374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</a:t>
            </a:r>
            <a:r>
              <a:rPr lang="en-US" sz="28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4.61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7582274" y="2637072"/>
            <a:ext cx="1259517" cy="42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perdido por cada $1 de fraude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937760" y="3547872"/>
            <a:ext cx="3749040" cy="640080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17" name="Text 15"/>
          <p:cNvSpPr/>
          <p:nvPr/>
        </p:nvSpPr>
        <p:spPr>
          <a:xfrm>
            <a:off x="5029200" y="3629416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LATAM es la región del mundo que más gasta en gestión de fraude.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8229600" y="4864608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23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457200" y="486460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FraudShield · Capstone DS · 2026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4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 RAÍZ · 5 WHYS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qué este problema no se resuelve para PyMEs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35608"/>
            <a:ext cx="438912" cy="438912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5" name="Text 3"/>
          <p:cNvSpPr/>
          <p:nvPr/>
        </p:nvSpPr>
        <p:spPr>
          <a:xfrm>
            <a:off x="548640" y="143560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1097280" y="1371600"/>
            <a:ext cx="75895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7" name="Text 5"/>
          <p:cNvSpPr/>
          <p:nvPr/>
        </p:nvSpPr>
        <p:spPr>
          <a:xfrm>
            <a:off x="1234440" y="1417320"/>
            <a:ext cx="7315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¿Por qué la PyME pierde dinero por fraude?  </a:t>
            </a: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Porque acepta pagos sin un filtro real adecuado.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48640" y="2066544"/>
            <a:ext cx="438912" cy="438912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9" name="Text 7"/>
          <p:cNvSpPr/>
          <p:nvPr/>
        </p:nvSpPr>
        <p:spPr>
          <a:xfrm>
            <a:off x="548640" y="206654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1097280" y="2002536"/>
            <a:ext cx="75895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11" name="Text 9"/>
          <p:cNvSpPr/>
          <p:nvPr/>
        </p:nvSpPr>
        <p:spPr>
          <a:xfrm>
            <a:off x="1234440" y="2048256"/>
            <a:ext cx="7315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¿Por qué no tiene un filtro adecuado?  </a:t>
            </a: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Porque su procesador (Conekta, MP) ofrece ML genérico, no servicio dedicado.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48640" y="2697480"/>
            <a:ext cx="438912" cy="438912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13" name="Text 11"/>
          <p:cNvSpPr/>
          <p:nvPr/>
        </p:nvSpPr>
        <p:spPr>
          <a:xfrm>
            <a:off x="548640" y="269748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1097280" y="2633472"/>
            <a:ext cx="75895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15" name="Text 13"/>
          <p:cNvSpPr/>
          <p:nvPr/>
        </p:nvSpPr>
        <p:spPr>
          <a:xfrm>
            <a:off x="1234440" y="2679192"/>
            <a:ext cx="7315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¿Por qué no le dan algo más fuerte?  </a:t>
            </a: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Porque su volumen no justifica un equipo de fraude propio o un enterprise contract.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48640" y="3328416"/>
            <a:ext cx="438912" cy="438912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17" name="Text 15"/>
          <p:cNvSpPr/>
          <p:nvPr/>
        </p:nvSpPr>
        <p:spPr>
          <a:xfrm>
            <a:off x="548640" y="332841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1097280" y="3264408"/>
            <a:ext cx="75895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19" name="Text 17"/>
          <p:cNvSpPr/>
          <p:nvPr/>
        </p:nvSpPr>
        <p:spPr>
          <a:xfrm>
            <a:off x="1234440" y="3310128"/>
            <a:ext cx="7315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¿Por qué no hay opciones managed para PyMEs?  </a:t>
            </a: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Porque ClearSale, Signifyd, Riskified apuntan a clientes &gt;$10M USD/año.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48640" y="3959352"/>
            <a:ext cx="438912" cy="438912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21" name="Text 19"/>
          <p:cNvSpPr/>
          <p:nvPr/>
        </p:nvSpPr>
        <p:spPr>
          <a:xfrm>
            <a:off x="548640" y="395935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1097280" y="3895344"/>
            <a:ext cx="7589520" cy="566928"/>
          </a:xfrm>
          <a:prstGeom prst="roundRect">
            <a:avLst>
              <a:gd name="adj" fmla="val 8065"/>
            </a:avLst>
          </a:prstGeom>
          <a:solidFill>
            <a:srgbClr val="F1F5F9"/>
          </a:solidFill>
          <a:ln w="1905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23" name="Text 21"/>
          <p:cNvSpPr/>
          <p:nvPr/>
        </p:nvSpPr>
        <p:spPr>
          <a:xfrm>
            <a:off x="1234440" y="3941064"/>
            <a:ext cx="7315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¿Por qué nadie ataca este segmento?  </a:t>
            </a: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Porque la cola larga es difícil de servir con costos enterprise. Hueco estructural.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8229600" y="4864608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23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57200" y="486460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FraudShield · Capstone DS · 2026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4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ESTRUCTURA DEL PROBLEMA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comercio paga el contracargo, no el banco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1514246" cy="777240"/>
          </a:xfrm>
          <a:prstGeom prst="roundRect">
            <a:avLst>
              <a:gd name="adj" fmla="val 9412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5" name="Text 3"/>
          <p:cNvSpPr/>
          <p:nvPr/>
        </p:nvSpPr>
        <p:spPr>
          <a:xfrm>
            <a:off x="457200" y="1508760"/>
            <a:ext cx="151424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Comprador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1828800"/>
            <a:ext cx="151424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titular de tarjeta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1980590" y="1751076"/>
            <a:ext cx="146304" cy="109728"/>
          </a:xfrm>
          <a:prstGeom prst="rightArrow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8" name="Shape 6"/>
          <p:cNvSpPr/>
          <p:nvPr/>
        </p:nvSpPr>
        <p:spPr>
          <a:xfrm>
            <a:off x="2136038" y="1417320"/>
            <a:ext cx="1514246" cy="777240"/>
          </a:xfrm>
          <a:prstGeom prst="roundRect">
            <a:avLst>
              <a:gd name="adj" fmla="val 9412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9" name="Text 7"/>
          <p:cNvSpPr/>
          <p:nvPr/>
        </p:nvSpPr>
        <p:spPr>
          <a:xfrm>
            <a:off x="2136038" y="1508760"/>
            <a:ext cx="151424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Banco emisor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2136038" y="1828800"/>
            <a:ext cx="151424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 comprador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659429" y="1751076"/>
            <a:ext cx="146304" cy="109728"/>
          </a:xfrm>
          <a:prstGeom prst="rightArrow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12" name="Shape 10"/>
          <p:cNvSpPr/>
          <p:nvPr/>
        </p:nvSpPr>
        <p:spPr>
          <a:xfrm>
            <a:off x="3814877" y="1417320"/>
            <a:ext cx="1514246" cy="777240"/>
          </a:xfrm>
          <a:prstGeom prst="roundRect">
            <a:avLst>
              <a:gd name="adj" fmla="val 9412"/>
            </a:avLst>
          </a:prstGeom>
          <a:solidFill>
            <a:srgbClr val="EDE9FE"/>
          </a:solidFill>
          <a:ln w="12700">
            <a:solidFill>
              <a:srgbClr val="EDE9FE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13" name="Text 11"/>
          <p:cNvSpPr/>
          <p:nvPr/>
        </p:nvSpPr>
        <p:spPr>
          <a:xfrm>
            <a:off x="3814877" y="1508760"/>
            <a:ext cx="151424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5B21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Visa / Master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814877" y="1828800"/>
            <a:ext cx="151424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B21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 de tarjetas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338267" y="1751076"/>
            <a:ext cx="146304" cy="109728"/>
          </a:xfrm>
          <a:prstGeom prst="rightArrow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16" name="Shape 14"/>
          <p:cNvSpPr/>
          <p:nvPr/>
        </p:nvSpPr>
        <p:spPr>
          <a:xfrm>
            <a:off x="5493715" y="1417320"/>
            <a:ext cx="1514246" cy="777240"/>
          </a:xfrm>
          <a:prstGeom prst="roundRect">
            <a:avLst>
              <a:gd name="adj" fmla="val 9412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17" name="Text 15"/>
          <p:cNvSpPr/>
          <p:nvPr/>
        </p:nvSpPr>
        <p:spPr>
          <a:xfrm>
            <a:off x="5493715" y="1508760"/>
            <a:ext cx="151424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15E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Adquirente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493715" y="1828800"/>
            <a:ext cx="151424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115E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Conekta, MP, Stripe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017106" y="1751076"/>
            <a:ext cx="146304" cy="109728"/>
          </a:xfrm>
          <a:prstGeom prst="rightArrow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20" name="Shape 18"/>
          <p:cNvSpPr/>
          <p:nvPr/>
        </p:nvSpPr>
        <p:spPr>
          <a:xfrm>
            <a:off x="7172554" y="1417320"/>
            <a:ext cx="1514246" cy="777240"/>
          </a:xfrm>
          <a:prstGeom prst="roundRect">
            <a:avLst>
              <a:gd name="adj" fmla="val 9412"/>
            </a:avLst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21" name="Text 19"/>
          <p:cNvSpPr/>
          <p:nvPr/>
        </p:nvSpPr>
        <p:spPr>
          <a:xfrm>
            <a:off x="7172554" y="1508760"/>
            <a:ext cx="151424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99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PyME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7172554" y="1828800"/>
            <a:ext cx="151424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99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paga al final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57200" y="2331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Reclama  →  2. Inicia contracargo  →  3. Notifica  →  4. Retira fondos del comercio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57200" y="2880360"/>
            <a:ext cx="8229600" cy="1645920"/>
          </a:xfrm>
          <a:prstGeom prst="roundRect">
            <a:avLst>
              <a:gd name="adj" fmla="val 4444"/>
            </a:avLst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25" name="Text 23"/>
          <p:cNvSpPr/>
          <p:nvPr/>
        </p:nvSpPr>
        <p:spPr>
          <a:xfrm>
            <a:off x="640080" y="297180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pierde la PyME en cada contracargo: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777240" y="3337560"/>
            <a:ext cx="76809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Monto completo de la transacción + mercadería ya enviada.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Comisión de chargeback de USD $20–100 (la cobra el emisor, no se reembolsa).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Comisión original de procesamiento (no se reembolsa aunque gane la disputa).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</a:t>
            </a:r>
            <a:r>
              <a:rPr lang="en-US" sz="1200" b="1" dirty="0" err="1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</a:t>
            </a:r>
            <a:r>
              <a:rPr lang="en-US" sz="12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40% de las disputas se ganan globalmente. El resto: pérdida total.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8229600" y="4864608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23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457200" y="486460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FraudShield · Capstone DS · 2026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4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 TARGET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PyMEs e-commerce que están solas frente al fraude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4297680" cy="3246120"/>
          </a:xfrm>
          <a:prstGeom prst="roundRect">
            <a:avLst>
              <a:gd name="adj" fmla="val 2254"/>
            </a:avLst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508760"/>
            <a:ext cx="365760" cy="3657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97280" y="150876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Perfil del cliente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640080" y="196596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negocio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2331720" y="196596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PyME e-commerce mexicana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40080" y="233172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Plataforma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2331720" y="233172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Shopify, Tiendanube, WooCommerce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40080" y="269748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Volumen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2331720" y="269748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 – 2,000 transacciones/mes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40080" y="306324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Equipo total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2331720" y="306324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– 5 personas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40080" y="342900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Equipo antifraude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2331720" y="342900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ninguno (no se lo pueden permitir)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640080" y="379476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Operador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2331720" y="379476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dueño del e-commerce o junior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640080" y="416052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Conocimiento técnico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2331720" y="416052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nulo en fraude / ML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4937760" y="137160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Tamaño del segmento en México</a:t>
            </a:r>
            <a:endParaRPr lang="en-US" sz="1600" dirty="0"/>
          </a:p>
        </p:txBody>
      </p:sp>
      <p:sp>
        <p:nvSpPr>
          <p:cNvPr id="22" name="Shape 19"/>
          <p:cNvSpPr/>
          <p:nvPr/>
        </p:nvSpPr>
        <p:spPr>
          <a:xfrm>
            <a:off x="4937760" y="1783080"/>
            <a:ext cx="1828800" cy="914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23" name="Text 20"/>
          <p:cNvSpPr/>
          <p:nvPr/>
        </p:nvSpPr>
        <p:spPr>
          <a:xfrm>
            <a:off x="4983480" y="187452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80,000</a:t>
            </a:r>
            <a:endParaRPr lang="en-US" sz="2600" dirty="0"/>
          </a:p>
        </p:txBody>
      </p:sp>
      <p:sp>
        <p:nvSpPr>
          <p:cNvPr id="24" name="Text 21"/>
          <p:cNvSpPr/>
          <p:nvPr/>
        </p:nvSpPr>
        <p:spPr>
          <a:xfrm>
            <a:off x="4983480" y="2377440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tiendas online en MX (INEGI)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6858000" y="1783080"/>
            <a:ext cx="1828800" cy="914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26" name="Text 23"/>
          <p:cNvSpPr/>
          <p:nvPr/>
        </p:nvSpPr>
        <p:spPr>
          <a:xfrm>
            <a:off x="6903720" y="187452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67.2M</a:t>
            </a:r>
            <a:endParaRPr lang="en-US" sz="3200" dirty="0"/>
          </a:p>
        </p:txBody>
      </p:sp>
      <p:sp>
        <p:nvSpPr>
          <p:cNvPr id="27" name="Text 24"/>
          <p:cNvSpPr/>
          <p:nvPr/>
        </p:nvSpPr>
        <p:spPr>
          <a:xfrm>
            <a:off x="6903720" y="2377440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compradores online MX (AMVO 2024)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4937760" y="2788920"/>
            <a:ext cx="1828800" cy="914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29" name="Text 26"/>
          <p:cNvSpPr/>
          <p:nvPr/>
        </p:nvSpPr>
        <p:spPr>
          <a:xfrm>
            <a:off x="4983480" y="288036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$789,700M</a:t>
            </a:r>
            <a:endParaRPr lang="en-US" sz="2200" dirty="0"/>
          </a:p>
        </p:txBody>
      </p:sp>
      <p:sp>
        <p:nvSpPr>
          <p:cNvPr id="30" name="Text 27"/>
          <p:cNvSpPr/>
          <p:nvPr/>
        </p:nvSpPr>
        <p:spPr>
          <a:xfrm>
            <a:off x="4983480" y="3383280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MXN e-commerce MX 2024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6858000" y="2788920"/>
            <a:ext cx="1828800" cy="914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32" name="Text 29"/>
          <p:cNvSpPr/>
          <p:nvPr/>
        </p:nvSpPr>
        <p:spPr>
          <a:xfrm>
            <a:off x="6903720" y="288036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$1200</a:t>
            </a:r>
            <a:endParaRPr lang="en-US" sz="3200" dirty="0"/>
          </a:p>
        </p:txBody>
      </p:sp>
      <p:sp>
        <p:nvSpPr>
          <p:cNvPr id="33" name="Text 30"/>
          <p:cNvSpPr/>
          <p:nvPr/>
        </p:nvSpPr>
        <p:spPr>
          <a:xfrm>
            <a:off x="6903720" y="3383280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ticket </a:t>
            </a:r>
            <a:r>
              <a:rPr lang="en-US" sz="10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promedio</a:t>
            </a: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MXN con </a:t>
            </a:r>
            <a:r>
              <a:rPr lang="en-US" sz="10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tarjeta</a:t>
            </a: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</a:t>
            </a:r>
            <a:r>
              <a:rPr lang="en-US" sz="10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crédito</a:t>
            </a:r>
            <a:endParaRPr lang="en-US" sz="1000" dirty="0"/>
          </a:p>
        </p:txBody>
      </p:sp>
      <p:sp>
        <p:nvSpPr>
          <p:cNvPr id="34" name="Shape 31"/>
          <p:cNvSpPr/>
          <p:nvPr/>
        </p:nvSpPr>
        <p:spPr>
          <a:xfrm>
            <a:off x="4937760" y="3822192"/>
            <a:ext cx="3749040" cy="777240"/>
          </a:xfrm>
          <a:prstGeom prst="roundRect">
            <a:avLst>
              <a:gd name="adj" fmla="val 7059"/>
            </a:avLst>
          </a:prstGeom>
          <a:solidFill>
            <a:srgbClr val="FEF3C7"/>
          </a:solidFill>
          <a:ln w="635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pic>
        <p:nvPicPr>
          <p:cNvPr id="3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74920" y="3950208"/>
            <a:ext cx="256032" cy="256032"/>
          </a:xfrm>
          <a:prstGeom prst="rect">
            <a:avLst/>
          </a:prstGeom>
        </p:spPr>
      </p:pic>
      <p:sp>
        <p:nvSpPr>
          <p:cNvPr id="36" name="Text 32"/>
          <p:cNvSpPr/>
          <p:nvPr/>
        </p:nvSpPr>
        <p:spPr>
          <a:xfrm>
            <a:off x="5440680" y="388620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83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Cola larga desatendida: las soluciones existentes apuntan a clientes &gt;$10M USD/año.</a:t>
            </a:r>
            <a:endParaRPr lang="en-US" sz="1100" dirty="0"/>
          </a:p>
        </p:txBody>
      </p:sp>
      <p:sp>
        <p:nvSpPr>
          <p:cNvPr id="37" name="Text 33"/>
          <p:cNvSpPr/>
          <p:nvPr/>
        </p:nvSpPr>
        <p:spPr>
          <a:xfrm>
            <a:off x="8229600" y="4864608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23</a:t>
            </a:r>
            <a:endParaRPr lang="en-US" sz="900" dirty="0"/>
          </a:p>
        </p:txBody>
      </p:sp>
      <p:sp>
        <p:nvSpPr>
          <p:cNvPr id="38" name="Text 34"/>
          <p:cNvSpPr/>
          <p:nvPr/>
        </p:nvSpPr>
        <p:spPr>
          <a:xfrm>
            <a:off x="457200" y="486460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FraudShield · Capstone DS · 2026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4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NUESTRA PROPUESTA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Servicio gestionado de antifraude — no software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12801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PyME no opera nada. Nosotros nos encargamos.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1965960"/>
            <a:ext cx="2606040" cy="233172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1905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6" name="Shape 4"/>
          <p:cNvSpPr/>
          <p:nvPr/>
        </p:nvSpPr>
        <p:spPr>
          <a:xfrm>
            <a:off x="1513332" y="1719072"/>
            <a:ext cx="493776" cy="493776"/>
          </a:xfrm>
          <a:prstGeom prst="ellipse">
            <a:avLst/>
          </a:prstGeom>
          <a:solidFill>
            <a:srgbClr val="028090"/>
          </a:solidFill>
          <a:ln w="381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7" name="Text 5"/>
          <p:cNvSpPr/>
          <p:nvPr/>
        </p:nvSpPr>
        <p:spPr>
          <a:xfrm>
            <a:off x="1513332" y="1719072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1620" y="2331720"/>
            <a:ext cx="457200" cy="45720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594360" y="292608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Integración asistida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594360" y="324612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en checkout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40080" y="356616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Nuestro equipo conecta la API a su Shopify / Tiendanube / WooCommerce en 2-4 horas. Cero código del lado del cliente.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3337560" y="1965960"/>
            <a:ext cx="2606040" cy="233172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1905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13" name="Shape 10"/>
          <p:cNvSpPr/>
          <p:nvPr/>
        </p:nvSpPr>
        <p:spPr>
          <a:xfrm>
            <a:off x="4393692" y="1719072"/>
            <a:ext cx="493776" cy="493776"/>
          </a:xfrm>
          <a:prstGeom prst="ellipse">
            <a:avLst/>
          </a:prstGeom>
          <a:solidFill>
            <a:srgbClr val="028090"/>
          </a:solidFill>
          <a:ln w="381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14" name="Text 11"/>
          <p:cNvSpPr/>
          <p:nvPr/>
        </p:nvSpPr>
        <p:spPr>
          <a:xfrm>
            <a:off x="4393692" y="1719072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11980" y="2331720"/>
            <a:ext cx="457200" cy="45720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3474720" y="292608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Decisiones automáticas</a:t>
            </a:r>
            <a:endParaRPr lang="en-US" sz="1600" dirty="0"/>
          </a:p>
        </p:txBody>
      </p:sp>
      <p:sp>
        <p:nvSpPr>
          <p:cNvPr id="17" name="Text 13"/>
          <p:cNvSpPr/>
          <p:nvPr/>
        </p:nvSpPr>
        <p:spPr>
          <a:xfrm>
            <a:off x="3474720" y="324612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+ analista interno</a:t>
            </a:r>
            <a:endParaRPr lang="en-US" sz="1100" dirty="0"/>
          </a:p>
        </p:txBody>
      </p:sp>
      <p:sp>
        <p:nvSpPr>
          <p:cNvPr id="18" name="Text 14"/>
          <p:cNvSpPr/>
          <p:nvPr/>
        </p:nvSpPr>
        <p:spPr>
          <a:xfrm>
            <a:off x="3520440" y="356616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modelo decide en &lt;300ms. Casos ambiguos los revisa nuestro analista de fraude. Cliente fuera del loop.</a:t>
            </a:r>
            <a:endParaRPr lang="en-US" sz="1100" dirty="0"/>
          </a:p>
        </p:txBody>
      </p:sp>
      <p:sp>
        <p:nvSpPr>
          <p:cNvPr id="19" name="Shape 15"/>
          <p:cNvSpPr/>
          <p:nvPr/>
        </p:nvSpPr>
        <p:spPr>
          <a:xfrm>
            <a:off x="6217920" y="1965960"/>
            <a:ext cx="2606040" cy="233172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1905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20" name="Shape 16"/>
          <p:cNvSpPr/>
          <p:nvPr/>
        </p:nvSpPr>
        <p:spPr>
          <a:xfrm>
            <a:off x="7274052" y="1719072"/>
            <a:ext cx="493776" cy="493776"/>
          </a:xfrm>
          <a:prstGeom prst="ellipse">
            <a:avLst/>
          </a:prstGeom>
          <a:solidFill>
            <a:srgbClr val="028090"/>
          </a:solidFill>
          <a:ln w="381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21" name="Text 17"/>
          <p:cNvSpPr/>
          <p:nvPr/>
        </p:nvSpPr>
        <p:spPr>
          <a:xfrm>
            <a:off x="7274052" y="1719072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pic>
        <p:nvPicPr>
          <p:cNvPr id="2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92340" y="2331720"/>
            <a:ext cx="457200" cy="457200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6355080" y="288036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</a:t>
            </a: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b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quincenal</a:t>
            </a: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</a:t>
            </a:r>
            <a:r>
              <a:rPr lang="en-US" sz="1600" b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mensual</a:t>
            </a:r>
            <a:endParaRPr lang="en-US" sz="1600" dirty="0"/>
          </a:p>
        </p:txBody>
      </p:sp>
      <p:sp>
        <p:nvSpPr>
          <p:cNvPr id="24" name="Text 19"/>
          <p:cNvSpPr/>
          <p:nvPr/>
        </p:nvSpPr>
        <p:spPr>
          <a:xfrm>
            <a:off x="6355080" y="324612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+ email</a:t>
            </a:r>
            <a:endParaRPr lang="en-US" sz="1100" dirty="0"/>
          </a:p>
        </p:txBody>
      </p:sp>
      <p:sp>
        <p:nvSpPr>
          <p:cNvPr id="25" name="Text 20"/>
          <p:cNvSpPr/>
          <p:nvPr/>
        </p:nvSpPr>
        <p:spPr>
          <a:xfrm>
            <a:off x="6400800" y="356616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15 días el cliente recibe el resumen: cuánto le ahorramos + razón de cada caso revisado por el analista.</a:t>
            </a:r>
            <a:endParaRPr lang="en-US" sz="1100" dirty="0"/>
          </a:p>
        </p:txBody>
      </p:sp>
      <p:sp>
        <p:nvSpPr>
          <p:cNvPr id="26" name="Text 21"/>
          <p:cNvSpPr/>
          <p:nvPr/>
        </p:nvSpPr>
        <p:spPr>
          <a:xfrm>
            <a:off x="468775" y="4537855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cliente paga para olvidarse del problema, no para aprender a operar otro software.</a:t>
            </a:r>
            <a:endParaRPr lang="en-US" sz="1200" dirty="0"/>
          </a:p>
        </p:txBody>
      </p:sp>
      <p:sp>
        <p:nvSpPr>
          <p:cNvPr id="27" name="Text 22"/>
          <p:cNvSpPr/>
          <p:nvPr/>
        </p:nvSpPr>
        <p:spPr>
          <a:xfrm>
            <a:off x="8229600" y="4864608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23</a:t>
            </a:r>
            <a:endParaRPr lang="en-US" sz="900" dirty="0"/>
          </a:p>
        </p:txBody>
      </p:sp>
      <p:sp>
        <p:nvSpPr>
          <p:cNvPr id="28" name="Text 23"/>
          <p:cNvSpPr/>
          <p:nvPr/>
        </p:nvSpPr>
        <p:spPr>
          <a:xfrm>
            <a:off x="457200" y="486460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FraudShield · Capstone DS · 2026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4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JOURNEY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5 momentos del </a:t>
            </a:r>
            <a:r>
              <a:rPr lang="en-US" sz="3200" b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</a:t>
            </a:r>
            <a:r>
              <a:rPr lang="en-US" sz="3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04087" y="2213456"/>
            <a:ext cx="13822597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dash"/>
          </a:ln>
        </p:spPr>
        <p:txBody>
          <a:bodyPr/>
          <a:lstStyle/>
          <a:p>
            <a:endParaRPr lang="es-MX"/>
          </a:p>
        </p:txBody>
      </p:sp>
      <p:sp>
        <p:nvSpPr>
          <p:cNvPr id="5" name="Shape 3"/>
          <p:cNvSpPr/>
          <p:nvPr/>
        </p:nvSpPr>
        <p:spPr>
          <a:xfrm>
            <a:off x="457200" y="1966567"/>
            <a:ext cx="1008676" cy="1052833"/>
          </a:xfrm>
          <a:prstGeom prst="ellipse">
            <a:avLst/>
          </a:prstGeom>
          <a:solidFill>
            <a:srgbClr val="FB7185"/>
          </a:solidFill>
          <a:ln w="254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6" name="Text 4"/>
          <p:cNvSpPr/>
          <p:nvPr/>
        </p:nvSpPr>
        <p:spPr>
          <a:xfrm>
            <a:off x="457200" y="1966567"/>
            <a:ext cx="1008676" cy="10528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06256" y="1088744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Descubre el</a:t>
            </a:r>
            <a:endParaRPr lang="en-US" dirty="0"/>
          </a:p>
          <a:p>
            <a:pPr marL="0" indent="0" algn="ctr">
              <a:buNone/>
            </a:pPr>
            <a:r>
              <a:rPr lang="en-US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</a:t>
            </a: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106256" y="3253123"/>
            <a:ext cx="15544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4to contracargo del mes. Busca solución, encuentra nuestro sitio.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148840" y="1966567"/>
            <a:ext cx="1008676" cy="1052833"/>
          </a:xfrm>
          <a:prstGeom prst="ellipse">
            <a:avLst/>
          </a:prstGeom>
          <a:solidFill>
            <a:srgbClr val="F59E0B"/>
          </a:solidFill>
          <a:ln w="254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10" name="Text 8"/>
          <p:cNvSpPr/>
          <p:nvPr/>
        </p:nvSpPr>
        <p:spPr>
          <a:xfrm>
            <a:off x="2148840" y="1966567"/>
            <a:ext cx="1008676" cy="10528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807590" y="1111603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Integración</a:t>
            </a:r>
            <a:endParaRPr lang="en-US" dirty="0"/>
          </a:p>
          <a:p>
            <a:pPr marL="0" indent="0" algn="ctr">
              <a:buNone/>
            </a:pPr>
            <a:r>
              <a:rPr lang="en-US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asistida</a:t>
            </a: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1813348" y="3250692"/>
            <a:ext cx="15544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Llamada inicial 30 min. Nuestro equipo integra la API en 2-4 hrs.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840480" y="1966567"/>
            <a:ext cx="1008676" cy="1052833"/>
          </a:xfrm>
          <a:prstGeom prst="ellipse">
            <a:avLst/>
          </a:prstGeom>
          <a:solidFill>
            <a:srgbClr val="8B5CF6"/>
          </a:solidFill>
          <a:ln w="254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14" name="Text 12"/>
          <p:cNvSpPr/>
          <p:nvPr/>
        </p:nvSpPr>
        <p:spPr>
          <a:xfrm>
            <a:off x="3840480" y="1966567"/>
            <a:ext cx="1008676" cy="10528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3497291" y="1102691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Primer</a:t>
            </a:r>
            <a:endParaRPr lang="en-US" dirty="0"/>
          </a:p>
          <a:p>
            <a:pPr marL="0" indent="0" algn="ctr">
              <a:buNone/>
            </a:pPr>
            <a:r>
              <a:rPr lang="en-US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</a:t>
            </a: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3482128" y="3264697"/>
            <a:ext cx="15544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 15: llega el reporte por email. Ve casos resueltos, decisiones explicadas.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532120" y="1966567"/>
            <a:ext cx="1008676" cy="1052833"/>
          </a:xfrm>
          <a:prstGeom prst="ellipse">
            <a:avLst/>
          </a:prstGeom>
          <a:solidFill>
            <a:srgbClr val="00A896"/>
          </a:solidFill>
          <a:ln w="254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18" name="Text 16"/>
          <p:cNvSpPr/>
          <p:nvPr/>
        </p:nvSpPr>
        <p:spPr>
          <a:xfrm>
            <a:off x="5532120" y="1966567"/>
            <a:ext cx="1008676" cy="10528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5204383" y="1137243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Operación</a:t>
            </a:r>
            <a:endParaRPr lang="en-US" sz="1200" dirty="0"/>
          </a:p>
          <a:p>
            <a:pPr marL="0" indent="0" algn="ctr">
              <a:buNone/>
            </a:pPr>
            <a:r>
              <a:rPr lang="en-US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pasiva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150908" y="3250692"/>
            <a:ext cx="15544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Sigue su negocio. Cada 15 días recibe el reporte. WhatsApp si dudas.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223760" y="1966567"/>
            <a:ext cx="1008676" cy="1052833"/>
          </a:xfrm>
          <a:prstGeom prst="ellipse">
            <a:avLst/>
          </a:prstGeom>
          <a:solidFill>
            <a:srgbClr val="059669"/>
          </a:solidFill>
          <a:ln w="254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22" name="Text 20"/>
          <p:cNvSpPr/>
          <p:nvPr/>
        </p:nvSpPr>
        <p:spPr>
          <a:xfrm>
            <a:off x="7223760" y="1966567"/>
            <a:ext cx="1008676" cy="10528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6876693" y="994815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Renueva</a:t>
            </a: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6888268" y="3195827"/>
            <a:ext cx="15544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reportes muestran ROI. Switching cost alto: la API ya vive en su checkout.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57200" y="4160520"/>
            <a:ext cx="8229600" cy="548640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26" name="Text 24"/>
          <p:cNvSpPr/>
          <p:nvPr/>
        </p:nvSpPr>
        <p:spPr>
          <a:xfrm>
            <a:off x="640080" y="420624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Diferencia clave: la PyME no opera el sistema. Solo recibe la integración, los reportes y respuestas a sus dudas.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8229600" y="4864608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23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457200" y="486460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FraudShield · Capstone DS · 2026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4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RECIBE EL CLIENTE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 quincenal por email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914400" y="1325880"/>
            <a:ext cx="7315200" cy="3520440"/>
          </a:xfrm>
          <a:prstGeom prst="roundRect">
            <a:avLst>
              <a:gd name="adj" fmla="val 1558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" y="1508760"/>
            <a:ext cx="274320" cy="2743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417320" y="150876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 QUINCENAL DE PROTECCION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1417320" y="170992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Tienda Aurora · 16 al 30 de abril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6949440" y="160020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 8/26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1097280" y="2103120"/>
            <a:ext cx="694944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10" name="Shape 7"/>
          <p:cNvSpPr/>
          <p:nvPr/>
        </p:nvSpPr>
        <p:spPr>
          <a:xfrm>
            <a:off x="1097280" y="2240280"/>
            <a:ext cx="2255520" cy="777240"/>
          </a:xfrm>
          <a:prstGeom prst="roundRect">
            <a:avLst>
              <a:gd name="adj" fmla="val 9412"/>
            </a:avLst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11" name="Text 8"/>
          <p:cNvSpPr/>
          <p:nvPr/>
        </p:nvSpPr>
        <p:spPr>
          <a:xfrm>
            <a:off x="1143000" y="2331720"/>
            <a:ext cx="2164080" cy="4274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$8,420</a:t>
            </a:r>
            <a:endParaRPr lang="en-US" sz="2600" dirty="0"/>
          </a:p>
        </p:txBody>
      </p:sp>
      <p:sp>
        <p:nvSpPr>
          <p:cNvPr id="12" name="Text 9"/>
          <p:cNvSpPr/>
          <p:nvPr/>
        </p:nvSpPr>
        <p:spPr>
          <a:xfrm>
            <a:off x="1143000" y="2745486"/>
            <a:ext cx="2164080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 ahorramos (MXN)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3444240" y="2240280"/>
            <a:ext cx="2255520" cy="777240"/>
          </a:xfrm>
          <a:prstGeom prst="roundRect">
            <a:avLst>
              <a:gd name="adj" fmla="val 9412"/>
            </a:avLst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14" name="Text 11"/>
          <p:cNvSpPr/>
          <p:nvPr/>
        </p:nvSpPr>
        <p:spPr>
          <a:xfrm>
            <a:off x="3489960" y="2331720"/>
            <a:ext cx="2164080" cy="4274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312</a:t>
            </a:r>
            <a:endParaRPr lang="en-US" sz="3600" dirty="0"/>
          </a:p>
        </p:txBody>
      </p:sp>
      <p:sp>
        <p:nvSpPr>
          <p:cNvPr id="15" name="Text 12"/>
          <p:cNvSpPr/>
          <p:nvPr/>
        </p:nvSpPr>
        <p:spPr>
          <a:xfrm>
            <a:off x="3489960" y="2745486"/>
            <a:ext cx="2164080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pedidos revisados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5791200" y="2240280"/>
            <a:ext cx="2255520" cy="777240"/>
          </a:xfrm>
          <a:prstGeom prst="roundRect">
            <a:avLst>
              <a:gd name="adj" fmla="val 9412"/>
            </a:avLst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17" name="Text 14"/>
          <p:cNvSpPr/>
          <p:nvPr/>
        </p:nvSpPr>
        <p:spPr>
          <a:xfrm>
            <a:off x="5836920" y="2331720"/>
            <a:ext cx="2164080" cy="4274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600" dirty="0"/>
          </a:p>
        </p:txBody>
      </p:sp>
      <p:sp>
        <p:nvSpPr>
          <p:cNvPr id="18" name="Text 15"/>
          <p:cNvSpPr/>
          <p:nvPr/>
        </p:nvSpPr>
        <p:spPr>
          <a:xfrm>
            <a:off x="5836920" y="2745486"/>
            <a:ext cx="2164080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falsos positivos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1097280" y="3154680"/>
            <a:ext cx="6949440" cy="41148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20" name="Text 17"/>
          <p:cNvSpPr/>
          <p:nvPr/>
        </p:nvSpPr>
        <p:spPr>
          <a:xfrm>
            <a:off x="1188720" y="3200400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312 pedidos: 305 aprobados auto · 4 bloqueados auto · 3 escalados al analista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1097280" y="3657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Casos revisados por tu </a:t>
            </a:r>
            <a:r>
              <a:rPr lang="en-US" sz="1200" b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analista</a:t>
            </a: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(Bernardo del Rio)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1097280" y="3977640"/>
            <a:ext cx="6949440" cy="77724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23" name="Text 20"/>
          <p:cNvSpPr/>
          <p:nvPr/>
        </p:nvSpPr>
        <p:spPr>
          <a:xfrm>
            <a:off x="1188720" y="4023360"/>
            <a:ext cx="6766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Pedido #4821 · $2,450 MXN  </a:t>
            </a:r>
            <a:r>
              <a:rPr lang="en-US" sz="1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BLOQUEADO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Monto 5x sobre el promedio · 03:42 AM · Tarjeta nunca compro desde esta ciudad. 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Decision: </a:t>
            </a: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Mariana intento contactar al titular, no respondio. Patron clasico de tarjeta robada.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8229600" y="4864608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23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457200" y="486460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FraudShield · Capstone DS · 2026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4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ARQUITECTURA TECNICA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real-time end-to-end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1558138" cy="914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5" name="Text 3"/>
          <p:cNvSpPr/>
          <p:nvPr/>
        </p:nvSpPr>
        <p:spPr>
          <a:xfrm>
            <a:off x="457200" y="1719072"/>
            <a:ext cx="15581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02920" y="2057400"/>
            <a:ext cx="14666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 checkout PyME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2019910" y="1965960"/>
            <a:ext cx="100584" cy="91440"/>
          </a:xfrm>
          <a:prstGeom prst="rightArrow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8" name="Shape 6"/>
          <p:cNvSpPr/>
          <p:nvPr/>
        </p:nvSpPr>
        <p:spPr>
          <a:xfrm>
            <a:off x="2125066" y="1554480"/>
            <a:ext cx="1558138" cy="914400"/>
          </a:xfrm>
          <a:prstGeom prst="roundRect">
            <a:avLst>
              <a:gd name="adj" fmla="val 8000"/>
            </a:avLst>
          </a:prstGeom>
          <a:solidFill>
            <a:srgbClr val="EDE9FE"/>
          </a:solidFill>
          <a:ln w="12700">
            <a:solidFill>
              <a:srgbClr val="EDE9FE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9" name="Text 7"/>
          <p:cNvSpPr/>
          <p:nvPr/>
        </p:nvSpPr>
        <p:spPr>
          <a:xfrm>
            <a:off x="2125066" y="1719072"/>
            <a:ext cx="15581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5B21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Store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2170786" y="2057400"/>
            <a:ext cx="14666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B21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 features anti-leakage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687775" y="1965960"/>
            <a:ext cx="100584" cy="91440"/>
          </a:xfrm>
          <a:prstGeom prst="rightArrow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12" name="Shape 10"/>
          <p:cNvSpPr/>
          <p:nvPr/>
        </p:nvSpPr>
        <p:spPr>
          <a:xfrm>
            <a:off x="3792931" y="1554480"/>
            <a:ext cx="1558138" cy="914400"/>
          </a:xfrm>
          <a:prstGeom prst="roundRect">
            <a:avLst>
              <a:gd name="adj" fmla="val 8000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13" name="Text 11"/>
          <p:cNvSpPr/>
          <p:nvPr/>
        </p:nvSpPr>
        <p:spPr>
          <a:xfrm>
            <a:off x="3792931" y="1719072"/>
            <a:ext cx="15581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15E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API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838651" y="2057400"/>
            <a:ext cx="14666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115E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 + SHAP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355641" y="1965960"/>
            <a:ext cx="100584" cy="91440"/>
          </a:xfrm>
          <a:prstGeom prst="rightArrow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16" name="Shape 14"/>
          <p:cNvSpPr/>
          <p:nvPr/>
        </p:nvSpPr>
        <p:spPr>
          <a:xfrm>
            <a:off x="5460797" y="1554480"/>
            <a:ext cx="1558138" cy="914400"/>
          </a:xfrm>
          <a:prstGeom prst="roundRect">
            <a:avLst>
              <a:gd name="adj" fmla="val 8000"/>
            </a:avLst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17" name="Text 15"/>
          <p:cNvSpPr/>
          <p:nvPr/>
        </p:nvSpPr>
        <p:spPr>
          <a:xfrm>
            <a:off x="5460797" y="1719072"/>
            <a:ext cx="15581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99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Engine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506517" y="2057400"/>
            <a:ext cx="14666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99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approve/escalate/block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023506" y="1965960"/>
            <a:ext cx="100584" cy="91440"/>
          </a:xfrm>
          <a:prstGeom prst="rightArrow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20" name="Shape 18"/>
          <p:cNvSpPr/>
          <p:nvPr/>
        </p:nvSpPr>
        <p:spPr>
          <a:xfrm>
            <a:off x="7128662" y="1554480"/>
            <a:ext cx="1558138" cy="914400"/>
          </a:xfrm>
          <a:prstGeom prst="roundRect">
            <a:avLst>
              <a:gd name="adj" fmla="val 8000"/>
            </a:avLst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21" name="Text 19"/>
          <p:cNvSpPr/>
          <p:nvPr/>
        </p:nvSpPr>
        <p:spPr>
          <a:xfrm>
            <a:off x="7128662" y="1719072"/>
            <a:ext cx="15581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783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Management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7174382" y="2057400"/>
            <a:ext cx="14666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783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analista interno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57200" y="2743200"/>
            <a:ext cx="2743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300 ms</a:t>
            </a:r>
            <a:endParaRPr lang="en-US" sz="3600" dirty="0"/>
          </a:p>
        </p:txBody>
      </p:sp>
      <p:sp>
        <p:nvSpPr>
          <p:cNvPr id="24" name="Text 22"/>
          <p:cNvSpPr/>
          <p:nvPr/>
        </p:nvSpPr>
        <p:spPr>
          <a:xfrm>
            <a:off x="457200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latencia end-to-end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3200400" y="2743200"/>
            <a:ext cx="2743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99.9%</a:t>
            </a:r>
            <a:endParaRPr lang="en-US" sz="3600" dirty="0"/>
          </a:p>
        </p:txBody>
      </p:sp>
      <p:sp>
        <p:nvSpPr>
          <p:cNvPr id="26" name="Text 24"/>
          <p:cNvSpPr/>
          <p:nvPr/>
        </p:nvSpPr>
        <p:spPr>
          <a:xfrm>
            <a:off x="3200400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disponibilidad Model API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943600" y="2743200"/>
            <a:ext cx="2743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tx/s</a:t>
            </a:r>
            <a:endParaRPr lang="en-US" sz="3600" dirty="0"/>
          </a:p>
        </p:txBody>
      </p:sp>
      <p:sp>
        <p:nvSpPr>
          <p:cNvPr id="28" name="Text 26"/>
          <p:cNvSpPr/>
          <p:nvPr/>
        </p:nvSpPr>
        <p:spPr>
          <a:xfrm>
            <a:off x="5943600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throughput por instancia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57200" y="3886200"/>
            <a:ext cx="8229600" cy="777240"/>
          </a:xfrm>
          <a:prstGeom prst="roundRect">
            <a:avLst>
              <a:gd name="adj" fmla="val 7059"/>
            </a:avLst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30" name="Text 28"/>
          <p:cNvSpPr/>
          <p:nvPr/>
        </p:nvSpPr>
        <p:spPr>
          <a:xfrm>
            <a:off x="640080" y="3950208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Loop de retroalimentacion: </a:t>
            </a: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del analista -&gt; label -&gt; re-</a:t>
            </a:r>
            <a:r>
              <a:rPr lang="en-US" sz="12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entreno</a:t>
            </a: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trimestral.</a:t>
            </a:r>
            <a:endParaRPr lang="en-US" sz="1200" dirty="0"/>
          </a:p>
          <a:p>
            <a:pPr marL="0" indent="0">
              <a:buNone/>
            </a:pPr>
            <a:r>
              <a:rPr lang="en-US" sz="12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 quincenal al cliente con cada caso documentado.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8229600" y="4864608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23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457200" y="486460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FraudShield · Capstone DS · 2026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4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ENGINE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Tres caminos segun score del modelo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2606040" cy="2377440"/>
          </a:xfrm>
          <a:prstGeom prst="roundRect">
            <a:avLst>
              <a:gd name="adj" fmla="val 3846"/>
            </a:avLst>
          </a:prstGeom>
          <a:solidFill>
            <a:srgbClr val="D1FAE5"/>
          </a:solidFill>
          <a:ln w="1905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5" name="Text 3"/>
          <p:cNvSpPr/>
          <p:nvPr/>
        </p:nvSpPr>
        <p:spPr>
          <a:xfrm>
            <a:off x="594360" y="164592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&lt; 0.30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94360" y="2057400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Auto-aprobar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40080" y="2788920"/>
            <a:ext cx="2240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Bajo riesgo, no friccionar al cliente legitimo. ~85% de las transacciones.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68980" y="1417320"/>
            <a:ext cx="2606040" cy="2377440"/>
          </a:xfrm>
          <a:prstGeom prst="roundRect">
            <a:avLst>
              <a:gd name="adj" fmla="val 3846"/>
            </a:avLst>
          </a:prstGeom>
          <a:solidFill>
            <a:srgbClr val="FEF3C7"/>
          </a:solidFill>
          <a:ln w="1905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9" name="Text 7"/>
          <p:cNvSpPr/>
          <p:nvPr/>
        </p:nvSpPr>
        <p:spPr>
          <a:xfrm>
            <a:off x="3406140" y="164592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0.30 &lt;= Score &lt; 0.85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406140" y="2057400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Escalar al analista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3451860" y="2788920"/>
            <a:ext cx="2240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Zona ambigua. Nuestro analista revisa con SHAP + contexto. ~13% del volumen.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080760" y="1417320"/>
            <a:ext cx="2606040" cy="2377440"/>
          </a:xfrm>
          <a:prstGeom prst="roundRect">
            <a:avLst>
              <a:gd name="adj" fmla="val 3846"/>
            </a:avLst>
          </a:prstGeom>
          <a:solidFill>
            <a:srgbClr val="FEE2E2"/>
          </a:solidFill>
          <a:ln w="1905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13" name="Text 11"/>
          <p:cNvSpPr/>
          <p:nvPr/>
        </p:nvSpPr>
        <p:spPr>
          <a:xfrm>
            <a:off x="6217920" y="164592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&gt;= 0.85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217920" y="2057400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Auto-bloquear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6263640" y="2788920"/>
            <a:ext cx="2240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Alta confianza de fraude. El costo de un FP se justifica. ~2% del volumen.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4023360"/>
            <a:ext cx="8229600" cy="640080"/>
          </a:xfrm>
          <a:prstGeom prst="roundRect">
            <a:avLst>
              <a:gd name="adj" fmla="val 8571"/>
            </a:avLst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17" name="Text 15"/>
          <p:cNvSpPr/>
          <p:nvPr/>
        </p:nvSpPr>
        <p:spPr>
          <a:xfrm>
            <a:off x="640080" y="4096512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Threshold operativo del modelo: 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0.6642 (F1 max sobre val). </a:t>
            </a: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Cae en zona de escalamiento - el analista decide. El threshold de minimo costo (0.52) ahorra 73% vs el academico.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8229600" y="4864608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23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57200" y="486460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FraudShield · Capstone DS · 2026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4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MODELO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</a:t>
            </a:r>
            <a:r>
              <a:rPr lang="en-US" sz="2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con 27 features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2697480" cy="2606040"/>
          </a:xfrm>
          <a:prstGeom prst="roundRect">
            <a:avLst>
              <a:gd name="adj" fmla="val 2807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485900"/>
            <a:ext cx="502920" cy="5029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51560" y="1581912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&amp; tuning</a:t>
            </a:r>
            <a:endParaRPr lang="en-US" dirty="0"/>
          </a:p>
        </p:txBody>
      </p:sp>
      <p:sp>
        <p:nvSpPr>
          <p:cNvPr id="7" name="Text 4"/>
          <p:cNvSpPr/>
          <p:nvPr/>
        </p:nvSpPr>
        <p:spPr>
          <a:xfrm>
            <a:off x="640080" y="2057400"/>
            <a:ext cx="2331720" cy="1874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1450" indent="-171450">
              <a:spcAft>
                <a:spcPts val="400"/>
              </a:spcAft>
              <a:buSzPct val="100000"/>
              <a:buFont typeface="Arial" panose="020B0604020202020204" pitchFamily="34" charset="0"/>
              <a:buChar char="•"/>
            </a:pPr>
            <a:r>
              <a:rPr lang="en-US" sz="14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</a:t>
            </a: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</a:p>
          <a:p>
            <a:pPr marL="171450" indent="-171450">
              <a:spcAft>
                <a:spcPts val="400"/>
              </a:spcAft>
              <a:buSzPct val="100000"/>
              <a:buFont typeface="Arial" panose="020B0604020202020204" pitchFamily="34" charset="0"/>
              <a:buChar char="•"/>
            </a:pPr>
            <a:r>
              <a:rPr lang="en-US" sz="14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scale_pos_weight</a:t>
            </a: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=176  (no SMOTE)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Optuna</a:t>
            </a: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50 trials + MedianPruner</a:t>
            </a:r>
            <a:endParaRPr lang="en-US" sz="1400" dirty="0"/>
          </a:p>
          <a:p>
            <a:pPr marL="171450" indent="-171450">
              <a:spcAft>
                <a:spcPts val="400"/>
              </a:spcAft>
              <a:buSzPct val="100000"/>
              <a:buFont typeface="Arial" panose="020B0604020202020204" pitchFamily="34" charset="0"/>
              <a:buChar char="•"/>
            </a:pPr>
            <a:r>
              <a:rPr lang="en-US" sz="14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Calibrador</a:t>
            </a: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probabilístico</a:t>
            </a: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</a:p>
          <a:p>
            <a:pPr marL="171450" indent="-171450">
              <a:spcAft>
                <a:spcPts val="400"/>
              </a:spcAft>
              <a:buSzPct val="100000"/>
              <a:buFont typeface="Arial" panose="020B0604020202020204" pitchFamily="34" charset="0"/>
              <a:buChar char="•"/>
            </a:pPr>
            <a:r>
              <a:rPr lang="en-US" sz="14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MLflow</a:t>
            </a: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tracking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3291840" y="1417320"/>
            <a:ext cx="2697480" cy="2606040"/>
          </a:xfrm>
          <a:prstGeom prst="roundRect">
            <a:avLst>
              <a:gd name="adj" fmla="val 2807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71584" y="1401318"/>
            <a:ext cx="640080" cy="64008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4114800" y="1540764"/>
            <a:ext cx="19202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</a:t>
            </a:r>
            <a:endParaRPr lang="en-US" sz="1400" dirty="0"/>
          </a:p>
        </p:txBody>
      </p:sp>
      <p:sp>
        <p:nvSpPr>
          <p:cNvPr id="11" name="Text 7"/>
          <p:cNvSpPr/>
          <p:nvPr/>
        </p:nvSpPr>
        <p:spPr>
          <a:xfrm>
            <a:off x="3474720" y="2057400"/>
            <a:ext cx="2331720" cy="1874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Monto: log1p, p95 legit-train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Temporal: hour, dow, sin/cos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Geografica: distancia, velocidad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Historico rolling 1h/24h/7d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encoding KFold (4 cols)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5989320" y="1417320"/>
            <a:ext cx="2697480" cy="2606040"/>
          </a:xfrm>
          <a:prstGeom prst="roundRect">
            <a:avLst>
              <a:gd name="adj" fmla="val 2807"/>
            </a:avLst>
          </a:prstGeom>
          <a:solidFill>
            <a:srgbClr val="ECFDF5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29350" y="1490646"/>
            <a:ext cx="457200" cy="45720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880860" y="1591056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Anti-leakage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6309360" y="2057400"/>
            <a:ext cx="2331720" cy="1874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rolling closed='left' (excluye tx actual)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p95 calculado solo en legitimas-train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encoding KFold + fit en train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Splits temporales 70/15/15 (no random)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tests passing</a:t>
            </a:r>
            <a:endParaRPr lang="en-US" sz="1100" dirty="0"/>
          </a:p>
        </p:txBody>
      </p:sp>
      <p:sp>
        <p:nvSpPr>
          <p:cNvPr id="16" name="Text 11"/>
          <p:cNvSpPr/>
          <p:nvPr/>
        </p:nvSpPr>
        <p:spPr>
          <a:xfrm>
            <a:off x="457200" y="4297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Entrenamiento full pipeline: ~10 min en GPU NVIDIA RTX 4060.</a:t>
            </a:r>
            <a:endParaRPr lang="en-US" sz="1100" dirty="0"/>
          </a:p>
        </p:txBody>
      </p:sp>
      <p:sp>
        <p:nvSpPr>
          <p:cNvPr id="17" name="Text 12"/>
          <p:cNvSpPr/>
          <p:nvPr/>
        </p:nvSpPr>
        <p:spPr>
          <a:xfrm>
            <a:off x="8229600" y="4864608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23</a:t>
            </a:r>
            <a:endParaRPr lang="en-US" sz="900" dirty="0"/>
          </a:p>
        </p:txBody>
      </p:sp>
      <p:sp>
        <p:nvSpPr>
          <p:cNvPr id="18" name="Text 13"/>
          <p:cNvSpPr/>
          <p:nvPr/>
        </p:nvSpPr>
        <p:spPr>
          <a:xfrm>
            <a:off x="457200" y="486460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FraudShield · Capstone DS · 2026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4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 del 94% revisando solo el 1% del volumen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1371600"/>
            <a:ext cx="3657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94%</a:t>
            </a:r>
            <a:endParaRPr lang="en-US" sz="11000" dirty="0"/>
          </a:p>
        </p:txBody>
      </p:sp>
      <p:sp>
        <p:nvSpPr>
          <p:cNvPr id="5" name="Text 3"/>
          <p:cNvSpPr/>
          <p:nvPr/>
        </p:nvSpPr>
        <p:spPr>
          <a:xfrm>
            <a:off x="457200" y="2743200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los fraudes capturados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revisando el 1% mas sospechoso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35204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(recall@1% en split test)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0" y="1417320"/>
            <a:ext cx="4114800" cy="3108960"/>
          </a:xfrm>
          <a:prstGeom prst="roundRect">
            <a:avLst>
              <a:gd name="adj" fmla="val 2353"/>
            </a:avLst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8" name="Text 6"/>
          <p:cNvSpPr/>
          <p:nvPr/>
        </p:nvSpPr>
        <p:spPr>
          <a:xfrm>
            <a:off x="4754880" y="155448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Metricas en test (n=193,365)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754880" y="201168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PR-AUC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355080" y="2011680"/>
            <a:ext cx="777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0.8771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178040" y="201168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tasa base 0.58% -&gt; random ~0.006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754880" y="2395728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ROC-AUC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355080" y="2395728"/>
            <a:ext cx="777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0.9923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7178040" y="2395728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techo del dataset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754880" y="2779776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 @ thr*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355080" y="2779776"/>
            <a:ext cx="777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7178040" y="2779776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 operativo = 0.6642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754880" y="3163824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 @ thr*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355080" y="3163824"/>
            <a:ext cx="777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0.83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7178040" y="3163824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83 de 100 alertas son fraude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754880" y="3547872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Lift @ 1%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355080" y="3547872"/>
            <a:ext cx="777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93.9x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7178040" y="3547872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top-1% concentra 94x mas fraude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754880" y="393192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 val-&gt;test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355080" y="3931920"/>
            <a:ext cx="777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 pts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7178040" y="393192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overfit en split temporal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8229600" y="4864608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23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457200" y="486460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FraudShield · Capstone DS · 2026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ángulo redondeado 20">
            <a:extLst>
              <a:ext uri="{FF2B5EF4-FFF2-40B4-BE49-F238E27FC236}">
                <a16:creationId xmlns:a16="http://schemas.microsoft.com/office/drawing/2014/main" id="{AFA727F3-4767-E74F-94D7-16CF6B7DF6D9}"/>
              </a:ext>
            </a:extLst>
          </p:cNvPr>
          <p:cNvSpPr/>
          <p:nvPr/>
        </p:nvSpPr>
        <p:spPr>
          <a:xfrm>
            <a:off x="4749800" y="1270000"/>
            <a:ext cx="4191000" cy="3238500"/>
          </a:xfrm>
          <a:prstGeom prst="roundRect">
            <a:avLst/>
          </a:prstGeom>
          <a:solidFill>
            <a:srgbClr val="02809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MX"/>
          </a:p>
        </p:txBody>
      </p:sp>
      <p:sp>
        <p:nvSpPr>
          <p:cNvPr id="4" name="Rectángulo redondeado 3">
            <a:extLst>
              <a:ext uri="{FF2B5EF4-FFF2-40B4-BE49-F238E27FC236}">
                <a16:creationId xmlns:a16="http://schemas.microsoft.com/office/drawing/2014/main" id="{B8038E27-26BC-2448-94B1-E083DE5C187D}"/>
              </a:ext>
            </a:extLst>
          </p:cNvPr>
          <p:cNvSpPr/>
          <p:nvPr/>
        </p:nvSpPr>
        <p:spPr>
          <a:xfrm>
            <a:off x="457200" y="1270000"/>
            <a:ext cx="4191000" cy="3238500"/>
          </a:xfrm>
          <a:prstGeom prst="roundRect">
            <a:avLst/>
          </a:prstGeom>
          <a:solidFill>
            <a:srgbClr val="FFFFFF"/>
          </a:solidFill>
          <a:ln w="1270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MX"/>
          </a:p>
        </p:txBody>
      </p:sp>
      <p:sp>
        <p:nvSpPr>
          <p:cNvPr id="27" name="Text 25"/>
          <p:cNvSpPr/>
          <p:nvPr/>
        </p:nvSpPr>
        <p:spPr>
          <a:xfrm>
            <a:off x="8229600" y="4864608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24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457200" y="486460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FraudShield · Capstone DS · 2026</a:t>
            </a:r>
            <a:endParaRPr lang="en-US" sz="900" dirty="0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C7E3E308-8448-D841-9BF6-B7E10836D075}"/>
              </a:ext>
            </a:extLst>
          </p:cNvPr>
          <p:cNvSpPr txBox="1"/>
          <p:nvPr/>
        </p:nvSpPr>
        <p:spPr>
          <a:xfrm>
            <a:off x="457200" y="292100"/>
            <a:ext cx="82296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s-MX" sz="1000" b="1">
                <a:solidFill>
                  <a:srgbClr val="028090"/>
                </a:solidFill>
                <a:latin typeface="Calibri"/>
                <a:cs typeface="Calibri"/>
              </a:rPr>
              <a:t>MODELO DE NEGOCIO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DA64DDBA-2835-874A-9D13-B623C982C1CF}"/>
              </a:ext>
            </a:extLst>
          </p:cNvPr>
          <p:cNvSpPr txBox="1"/>
          <p:nvPr/>
        </p:nvSpPr>
        <p:spPr>
          <a:xfrm>
            <a:off x="457200" y="609600"/>
            <a:ext cx="8229600" cy="584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s-MX" sz="2200" b="1">
                <a:solidFill>
                  <a:srgbClr val="1E293B"/>
                </a:solidFill>
                <a:latin typeface="Calibri"/>
                <a:cs typeface="Calibri"/>
              </a:rPr>
              <a:t>Que ahorramos al cliente y que gana FraudShield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890802F5-D2A1-EA48-BEF7-A3EA40155176}"/>
              </a:ext>
            </a:extLst>
          </p:cNvPr>
          <p:cNvSpPr txBox="1"/>
          <p:nvPr/>
        </p:nvSpPr>
        <p:spPr>
          <a:xfrm>
            <a:off x="635000" y="1346200"/>
            <a:ext cx="38862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s-MX" sz="1200" b="1">
                <a:solidFill>
                  <a:srgbClr val="1E293B"/>
                </a:solidFill>
                <a:latin typeface="Calibri"/>
                <a:cs typeface="Calibri"/>
              </a:rPr>
              <a:t>PyME típica (1,100 tx/mes)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40C969D7-B7FD-7246-87A3-B8766107CB3F}"/>
              </a:ext>
            </a:extLst>
          </p:cNvPr>
          <p:cNvSpPr txBox="1"/>
          <p:nvPr/>
        </p:nvSpPr>
        <p:spPr>
          <a:xfrm>
            <a:off x="635000" y="1612900"/>
            <a:ext cx="3886200" cy="177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s-MX" sz="800">
                <a:solidFill>
                  <a:srgbClr val="94A3B8"/>
                </a:solidFill>
                <a:latin typeface="Calibri"/>
                <a:cs typeface="Calibri"/>
              </a:rPr>
              <a:t>Mediana del rango target 200-2,000 tx/mes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716DF54D-A0BD-AE45-9073-522E099F4AF6}"/>
              </a:ext>
            </a:extLst>
          </p:cNvPr>
          <p:cNvSpPr txBox="1"/>
          <p:nvPr/>
        </p:nvSpPr>
        <p:spPr>
          <a:xfrm>
            <a:off x="635000" y="1828800"/>
            <a:ext cx="17780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s-MX" sz="900">
                <a:solidFill>
                  <a:srgbClr val="64748B"/>
                </a:solidFill>
                <a:latin typeface="Calibri"/>
                <a:cs typeface="Calibri"/>
              </a:rPr>
              <a:t>Volumen mensual</a:t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A7E9D5CC-FFF3-EC4F-8C47-EB031CCEB743}"/>
              </a:ext>
            </a:extLst>
          </p:cNvPr>
          <p:cNvSpPr txBox="1"/>
          <p:nvPr/>
        </p:nvSpPr>
        <p:spPr>
          <a:xfrm>
            <a:off x="2438400" y="1828800"/>
            <a:ext cx="21336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s-MX" sz="900">
                <a:solidFill>
                  <a:srgbClr val="64748B"/>
                </a:solidFill>
                <a:latin typeface="Calibri"/>
                <a:cs typeface="Calibri"/>
              </a:rPr>
              <a:t>1,100 tx × $1,231 = $1.35M MXN</a:t>
            </a: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8CBCF039-08B5-264B-A534-491697E3DDD6}"/>
              </a:ext>
            </a:extLst>
          </p:cNvPr>
          <p:cNvSpPr txBox="1"/>
          <p:nvPr/>
        </p:nvSpPr>
        <p:spPr>
          <a:xfrm>
            <a:off x="635000" y="2070100"/>
            <a:ext cx="17780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s-MX" sz="900">
                <a:solidFill>
                  <a:srgbClr val="64748B"/>
                </a:solidFill>
                <a:latin typeface="Calibri"/>
                <a:cs typeface="Calibri"/>
              </a:rPr>
              <a:t>Tasa fraude MX</a:t>
            </a: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33441CC6-DBD6-E140-8F83-0C5CBAB0B95E}"/>
              </a:ext>
            </a:extLst>
          </p:cNvPr>
          <p:cNvSpPr txBox="1"/>
          <p:nvPr/>
        </p:nvSpPr>
        <p:spPr>
          <a:xfrm>
            <a:off x="2438400" y="2070100"/>
            <a:ext cx="21336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s-MX" sz="900">
                <a:solidFill>
                  <a:srgbClr val="64748B"/>
                </a:solidFill>
                <a:latin typeface="Calibri"/>
                <a:cs typeface="Calibri"/>
              </a:rPr>
              <a:t>2.81% → 31 fraudes/mes</a:t>
            </a:r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606DCC0C-4706-444E-B861-DCFECFD715B1}"/>
              </a:ext>
            </a:extLst>
          </p:cNvPr>
          <p:cNvSpPr txBox="1"/>
          <p:nvPr/>
        </p:nvSpPr>
        <p:spPr>
          <a:xfrm>
            <a:off x="635000" y="2311400"/>
            <a:ext cx="17780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s-MX" sz="900">
                <a:solidFill>
                  <a:srgbClr val="64748B"/>
                </a:solidFill>
                <a:latin typeface="Calibri"/>
                <a:cs typeface="Calibri"/>
              </a:rPr>
              <a:t>Perdida bruta</a:t>
            </a:r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96C0C9E5-F505-FD49-9928-D1C0895827B7}"/>
              </a:ext>
            </a:extLst>
          </p:cNvPr>
          <p:cNvSpPr txBox="1"/>
          <p:nvPr/>
        </p:nvSpPr>
        <p:spPr>
          <a:xfrm>
            <a:off x="2438400" y="2311400"/>
            <a:ext cx="21336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s-MX" sz="900">
                <a:solidFill>
                  <a:srgbClr val="64748B"/>
                </a:solidFill>
                <a:latin typeface="Calibri"/>
                <a:cs typeface="Calibri"/>
              </a:rPr>
              <a:t>$38,161 MXN/mes</a:t>
            </a:r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B5D1980A-ABD9-2E47-B163-0CBC55293F29}"/>
              </a:ext>
            </a:extLst>
          </p:cNvPr>
          <p:cNvSpPr txBox="1"/>
          <p:nvPr/>
        </p:nvSpPr>
        <p:spPr>
          <a:xfrm>
            <a:off x="635000" y="2552700"/>
            <a:ext cx="17780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s-MX" sz="900">
                <a:solidFill>
                  <a:srgbClr val="64748B"/>
                </a:solidFill>
                <a:latin typeface="Calibri"/>
                <a:cs typeface="Calibri"/>
              </a:rPr>
              <a:t>Costo indirecto (1.5x)</a:t>
            </a: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13739E28-7B3F-9A40-993D-ACFAA5EBD52F}"/>
              </a:ext>
            </a:extLst>
          </p:cNvPr>
          <p:cNvSpPr txBox="1"/>
          <p:nvPr/>
        </p:nvSpPr>
        <p:spPr>
          <a:xfrm>
            <a:off x="2438400" y="2552700"/>
            <a:ext cx="21336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s-MX" sz="900">
                <a:solidFill>
                  <a:srgbClr val="64748B"/>
                </a:solidFill>
                <a:latin typeface="Calibri"/>
                <a:cs typeface="Calibri"/>
              </a:rPr>
              <a:t>+$19,080 MXN (fees, ops)</a:t>
            </a:r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C9207CF6-0C85-E245-B608-67BBC17770CF}"/>
              </a:ext>
            </a:extLst>
          </p:cNvPr>
          <p:cNvSpPr txBox="1"/>
          <p:nvPr/>
        </p:nvSpPr>
        <p:spPr>
          <a:xfrm>
            <a:off x="635000" y="2819400"/>
            <a:ext cx="17780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s-MX" sz="900" b="1">
                <a:solidFill>
                  <a:srgbClr val="1E293B"/>
                </a:solidFill>
                <a:latin typeface="Calibri"/>
                <a:cs typeface="Calibri"/>
              </a:rPr>
              <a:t>Sin FraudShield</a:t>
            </a: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FE1291D0-8BA3-924B-A8D8-52107363F9FF}"/>
              </a:ext>
            </a:extLst>
          </p:cNvPr>
          <p:cNvSpPr txBox="1"/>
          <p:nvPr/>
        </p:nvSpPr>
        <p:spPr>
          <a:xfrm>
            <a:off x="2438400" y="2819400"/>
            <a:ext cx="21336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s-MX" sz="900">
                <a:solidFill>
                  <a:srgbClr val="DC2626"/>
                </a:solidFill>
                <a:latin typeface="Calibri"/>
                <a:cs typeface="Calibri"/>
              </a:rPr>
              <a:t>$57,241 MXN/mes perdidos</a:t>
            </a:r>
          </a:p>
        </p:txBody>
      </p:sp>
      <p:sp>
        <p:nvSpPr>
          <p:cNvPr id="17" name="Rectángulo redondeado 16">
            <a:extLst>
              <a:ext uri="{FF2B5EF4-FFF2-40B4-BE49-F238E27FC236}">
                <a16:creationId xmlns:a16="http://schemas.microsoft.com/office/drawing/2014/main" id="{1DE7A021-A83A-0D46-90EB-4011E467D5EE}"/>
              </a:ext>
            </a:extLst>
          </p:cNvPr>
          <p:cNvSpPr/>
          <p:nvPr/>
        </p:nvSpPr>
        <p:spPr>
          <a:xfrm>
            <a:off x="635000" y="3238500"/>
            <a:ext cx="3886200" cy="1079500"/>
          </a:xfrm>
          <a:prstGeom prst="roundRect">
            <a:avLst/>
          </a:prstGeom>
          <a:solidFill>
            <a:srgbClr val="F0FDF4"/>
          </a:solidFill>
          <a:ln w="12700" cap="flat" cmpd="sng" algn="ctr">
            <a:solidFill>
              <a:srgbClr val="BBF7D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MX"/>
          </a:p>
        </p:txBody>
      </p:sp>
      <p:sp>
        <p:nvSpPr>
          <p:cNvPr id="18" name="CuadroTexto 17">
            <a:extLst>
              <a:ext uri="{FF2B5EF4-FFF2-40B4-BE49-F238E27FC236}">
                <a16:creationId xmlns:a16="http://schemas.microsoft.com/office/drawing/2014/main" id="{832FE7CD-4680-2C40-AF9F-6BCFF50F429E}"/>
              </a:ext>
            </a:extLst>
          </p:cNvPr>
          <p:cNvSpPr txBox="1"/>
          <p:nvPr/>
        </p:nvSpPr>
        <p:spPr>
          <a:xfrm>
            <a:off x="736600" y="3302000"/>
            <a:ext cx="36322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s-MX" sz="900" b="1">
                <a:solidFill>
                  <a:srgbClr val="1E293B"/>
                </a:solidFill>
                <a:latin typeface="Calibri"/>
                <a:cs typeface="Calibri"/>
              </a:rPr>
              <a:t>Con FraudShield (94% recall):</a:t>
            </a:r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A9137F21-9379-624D-A04D-A0D8CBB41311}"/>
              </a:ext>
            </a:extLst>
          </p:cNvPr>
          <p:cNvSpPr txBox="1"/>
          <p:nvPr/>
        </p:nvSpPr>
        <p:spPr>
          <a:xfrm>
            <a:off x="736600" y="3517900"/>
            <a:ext cx="36322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s-MX" sz="2800" b="1">
                <a:solidFill>
                  <a:srgbClr val="028090"/>
                </a:solidFill>
                <a:latin typeface="Calibri"/>
                <a:cs typeface="Calibri"/>
              </a:rPr>
              <a:t>$53,807</a:t>
            </a:r>
          </a:p>
        </p:txBody>
      </p:sp>
      <p:sp>
        <p:nvSpPr>
          <p:cNvPr id="20" name="CuadroTexto 19">
            <a:extLst>
              <a:ext uri="{FF2B5EF4-FFF2-40B4-BE49-F238E27FC236}">
                <a16:creationId xmlns:a16="http://schemas.microsoft.com/office/drawing/2014/main" id="{52BFE278-B422-B446-ABA3-945AC5DE7CFD}"/>
              </a:ext>
            </a:extLst>
          </p:cNvPr>
          <p:cNvSpPr txBox="1"/>
          <p:nvPr/>
        </p:nvSpPr>
        <p:spPr>
          <a:xfrm>
            <a:off x="736600" y="3937000"/>
            <a:ext cx="3632200" cy="177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s-MX" sz="800">
                <a:solidFill>
                  <a:srgbClr val="028090"/>
                </a:solidFill>
                <a:latin typeface="Calibri"/>
                <a:cs typeface="Calibri"/>
              </a:rPr>
              <a:t>MXN ahorrados/mes  ·  ROI 12x sobre la suscripción</a:t>
            </a:r>
          </a:p>
        </p:txBody>
      </p:sp>
      <p:sp>
        <p:nvSpPr>
          <p:cNvPr id="22" name="CuadroTexto 21">
            <a:extLst>
              <a:ext uri="{FF2B5EF4-FFF2-40B4-BE49-F238E27FC236}">
                <a16:creationId xmlns:a16="http://schemas.microsoft.com/office/drawing/2014/main" id="{CA48F692-432A-0941-85F8-889A6B89E2FA}"/>
              </a:ext>
            </a:extLst>
          </p:cNvPr>
          <p:cNvSpPr txBox="1"/>
          <p:nvPr/>
        </p:nvSpPr>
        <p:spPr>
          <a:xfrm>
            <a:off x="4927600" y="1346200"/>
            <a:ext cx="38862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s-MX" sz="1200" b="1">
                <a:solidFill>
                  <a:srgbClr val="FFFFFF"/>
                </a:solidFill>
                <a:latin typeface="Calibri"/>
                <a:cs typeface="Calibri"/>
              </a:rPr>
              <a:t>Negocio FraudShield (100 clientes)</a:t>
            </a:r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0C108B3D-5E60-974D-92C3-43B575773637}"/>
              </a:ext>
            </a:extLst>
          </p:cNvPr>
          <p:cNvSpPr txBox="1"/>
          <p:nvPr/>
        </p:nvSpPr>
        <p:spPr>
          <a:xfrm>
            <a:off x="4927600" y="1612900"/>
            <a:ext cx="3886200" cy="177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s-MX" sz="800">
                <a:solidFill>
                  <a:srgbClr val="B2DFDB"/>
                </a:solidFill>
                <a:latin typeface="Calibri"/>
                <a:cs typeface="Calibri"/>
              </a:rPr>
              <a:t>Unit economics mensuales</a:t>
            </a:r>
          </a:p>
        </p:txBody>
      </p:sp>
      <p:sp>
        <p:nvSpPr>
          <p:cNvPr id="24" name="CuadroTexto 23">
            <a:extLst>
              <a:ext uri="{FF2B5EF4-FFF2-40B4-BE49-F238E27FC236}">
                <a16:creationId xmlns:a16="http://schemas.microsoft.com/office/drawing/2014/main" id="{0E1D8E9D-2625-344C-8EB7-C9E70371D794}"/>
              </a:ext>
            </a:extLst>
          </p:cNvPr>
          <p:cNvSpPr txBox="1"/>
          <p:nvPr/>
        </p:nvSpPr>
        <p:spPr>
          <a:xfrm>
            <a:off x="4927600" y="1828800"/>
            <a:ext cx="20320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s-MX" sz="900">
                <a:solidFill>
                  <a:srgbClr val="E0F2F1"/>
                </a:solidFill>
                <a:latin typeface="Calibri"/>
                <a:cs typeface="Calibri"/>
              </a:rPr>
              <a:t>Suscripción/cliente</a:t>
            </a:r>
          </a:p>
        </p:txBody>
      </p:sp>
      <p:sp>
        <p:nvSpPr>
          <p:cNvPr id="25" name="CuadroTexto 24">
            <a:extLst>
              <a:ext uri="{FF2B5EF4-FFF2-40B4-BE49-F238E27FC236}">
                <a16:creationId xmlns:a16="http://schemas.microsoft.com/office/drawing/2014/main" id="{2FD0AC59-74D8-B54D-B2D5-17CDB2316EE6}"/>
              </a:ext>
            </a:extLst>
          </p:cNvPr>
          <p:cNvSpPr txBox="1"/>
          <p:nvPr/>
        </p:nvSpPr>
        <p:spPr>
          <a:xfrm>
            <a:off x="6959600" y="1828800"/>
            <a:ext cx="18796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s-MX" sz="900">
                <a:solidFill>
                  <a:srgbClr val="FFFFFF"/>
                </a:solidFill>
                <a:latin typeface="Calibri"/>
                <a:cs typeface="Calibri"/>
              </a:rPr>
              <a:t>$4,500 MXN/mes</a:t>
            </a:r>
          </a:p>
        </p:txBody>
      </p:sp>
      <p:sp>
        <p:nvSpPr>
          <p:cNvPr id="26" name="CuadroTexto 25">
            <a:extLst>
              <a:ext uri="{FF2B5EF4-FFF2-40B4-BE49-F238E27FC236}">
                <a16:creationId xmlns:a16="http://schemas.microsoft.com/office/drawing/2014/main" id="{E3A8394D-094F-A04F-B7C7-5590EC418ACA}"/>
              </a:ext>
            </a:extLst>
          </p:cNvPr>
          <p:cNvSpPr txBox="1"/>
          <p:nvPr/>
        </p:nvSpPr>
        <p:spPr>
          <a:xfrm>
            <a:off x="4927600" y="2070100"/>
            <a:ext cx="20320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s-MX" sz="900">
                <a:solidFill>
                  <a:srgbClr val="E0F2F1"/>
                </a:solidFill>
                <a:latin typeface="Calibri"/>
                <a:cs typeface="Calibri"/>
              </a:rPr>
              <a:t>Revenue total</a:t>
            </a:r>
          </a:p>
        </p:txBody>
      </p:sp>
      <p:sp>
        <p:nvSpPr>
          <p:cNvPr id="29" name="CuadroTexto 28">
            <a:extLst>
              <a:ext uri="{FF2B5EF4-FFF2-40B4-BE49-F238E27FC236}">
                <a16:creationId xmlns:a16="http://schemas.microsoft.com/office/drawing/2014/main" id="{5A1E757C-6183-DB46-BDCD-7FF1C49C613B}"/>
              </a:ext>
            </a:extLst>
          </p:cNvPr>
          <p:cNvSpPr txBox="1"/>
          <p:nvPr/>
        </p:nvSpPr>
        <p:spPr>
          <a:xfrm>
            <a:off x="6959600" y="2070100"/>
            <a:ext cx="18796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s-MX" sz="900">
                <a:solidFill>
                  <a:srgbClr val="FFFFFF"/>
                </a:solidFill>
                <a:latin typeface="Calibri"/>
                <a:cs typeface="Calibri"/>
              </a:rPr>
              <a:t>$450,000 MXN/mes</a:t>
            </a:r>
          </a:p>
        </p:txBody>
      </p:sp>
      <p:sp>
        <p:nvSpPr>
          <p:cNvPr id="30" name="CuadroTexto 29">
            <a:extLst>
              <a:ext uri="{FF2B5EF4-FFF2-40B4-BE49-F238E27FC236}">
                <a16:creationId xmlns:a16="http://schemas.microsoft.com/office/drawing/2014/main" id="{D9238ED3-74A6-094D-ABDA-B43F4C710A7F}"/>
              </a:ext>
            </a:extLst>
          </p:cNvPr>
          <p:cNvSpPr txBox="1"/>
          <p:nvPr/>
        </p:nvSpPr>
        <p:spPr>
          <a:xfrm>
            <a:off x="4927600" y="2311400"/>
            <a:ext cx="20320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s-MX" sz="900">
                <a:solidFill>
                  <a:srgbClr val="E0F2F1"/>
                </a:solidFill>
                <a:latin typeface="Calibri"/>
                <a:cs typeface="Calibri"/>
              </a:rPr>
              <a:t>Analistas (5)</a:t>
            </a:r>
          </a:p>
        </p:txBody>
      </p:sp>
      <p:sp>
        <p:nvSpPr>
          <p:cNvPr id="31" name="CuadroTexto 30">
            <a:extLst>
              <a:ext uri="{FF2B5EF4-FFF2-40B4-BE49-F238E27FC236}">
                <a16:creationId xmlns:a16="http://schemas.microsoft.com/office/drawing/2014/main" id="{54975966-E3E3-C54B-B300-A445BBF21F0A}"/>
              </a:ext>
            </a:extLst>
          </p:cNvPr>
          <p:cNvSpPr txBox="1"/>
          <p:nvPr/>
        </p:nvSpPr>
        <p:spPr>
          <a:xfrm>
            <a:off x="6959600" y="2311400"/>
            <a:ext cx="18796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s-MX" sz="900">
                <a:solidFill>
                  <a:srgbClr val="FFFFFF"/>
                </a:solidFill>
                <a:latin typeface="Calibri"/>
                <a:cs typeface="Calibri"/>
              </a:rPr>
              <a:t>~$125,000 MXN</a:t>
            </a:r>
          </a:p>
        </p:txBody>
      </p:sp>
      <p:sp>
        <p:nvSpPr>
          <p:cNvPr id="32" name="CuadroTexto 31">
            <a:extLst>
              <a:ext uri="{FF2B5EF4-FFF2-40B4-BE49-F238E27FC236}">
                <a16:creationId xmlns:a16="http://schemas.microsoft.com/office/drawing/2014/main" id="{71F5556F-5B56-DB40-80DB-E7CC94958E98}"/>
              </a:ext>
            </a:extLst>
          </p:cNvPr>
          <p:cNvSpPr txBox="1"/>
          <p:nvPr/>
        </p:nvSpPr>
        <p:spPr>
          <a:xfrm>
            <a:off x="4927600" y="2552700"/>
            <a:ext cx="20320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s-MX" sz="900">
                <a:solidFill>
                  <a:srgbClr val="E0F2F1"/>
                </a:solidFill>
                <a:latin typeface="Calibri"/>
                <a:cs typeface="Calibri"/>
              </a:rPr>
              <a:t>Infra + modelo</a:t>
            </a:r>
          </a:p>
        </p:txBody>
      </p:sp>
      <p:sp>
        <p:nvSpPr>
          <p:cNvPr id="33" name="CuadroTexto 32">
            <a:extLst>
              <a:ext uri="{FF2B5EF4-FFF2-40B4-BE49-F238E27FC236}">
                <a16:creationId xmlns:a16="http://schemas.microsoft.com/office/drawing/2014/main" id="{6815780C-49A0-B248-8E35-230F6E8E5097}"/>
              </a:ext>
            </a:extLst>
          </p:cNvPr>
          <p:cNvSpPr txBox="1"/>
          <p:nvPr/>
        </p:nvSpPr>
        <p:spPr>
          <a:xfrm>
            <a:off x="6959600" y="2552700"/>
            <a:ext cx="18796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s-MX" sz="900">
                <a:solidFill>
                  <a:srgbClr val="FFFFFF"/>
                </a:solidFill>
                <a:latin typeface="Calibri"/>
                <a:cs typeface="Calibri"/>
              </a:rPr>
              <a:t>~$125,000 MXN</a:t>
            </a:r>
          </a:p>
        </p:txBody>
      </p:sp>
      <p:sp>
        <p:nvSpPr>
          <p:cNvPr id="34" name="CuadroTexto 33">
            <a:extLst>
              <a:ext uri="{FF2B5EF4-FFF2-40B4-BE49-F238E27FC236}">
                <a16:creationId xmlns:a16="http://schemas.microsoft.com/office/drawing/2014/main" id="{4F1F5872-87B1-CC45-B947-F38793885E4D}"/>
              </a:ext>
            </a:extLst>
          </p:cNvPr>
          <p:cNvSpPr txBox="1"/>
          <p:nvPr/>
        </p:nvSpPr>
        <p:spPr>
          <a:xfrm>
            <a:off x="4927600" y="2794000"/>
            <a:ext cx="20320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s-MX" sz="900">
                <a:solidFill>
                  <a:srgbClr val="E0F2F1"/>
                </a:solidFill>
                <a:latin typeface="Calibri"/>
                <a:cs typeface="Calibri"/>
              </a:rPr>
              <a:t>Costo operativo</a:t>
            </a:r>
          </a:p>
        </p:txBody>
      </p:sp>
      <p:sp>
        <p:nvSpPr>
          <p:cNvPr id="35" name="CuadroTexto 34">
            <a:extLst>
              <a:ext uri="{FF2B5EF4-FFF2-40B4-BE49-F238E27FC236}">
                <a16:creationId xmlns:a16="http://schemas.microsoft.com/office/drawing/2014/main" id="{9B88C1DC-71C4-644B-AA39-74FAD0E6EFAF}"/>
              </a:ext>
            </a:extLst>
          </p:cNvPr>
          <p:cNvSpPr txBox="1"/>
          <p:nvPr/>
        </p:nvSpPr>
        <p:spPr>
          <a:xfrm>
            <a:off x="6959600" y="2794000"/>
            <a:ext cx="18796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s-MX" sz="900">
                <a:solidFill>
                  <a:srgbClr val="FFFFFF"/>
                </a:solidFill>
                <a:latin typeface="Calibri"/>
                <a:cs typeface="Calibri"/>
              </a:rPr>
              <a:t>~$250,000 MXN</a:t>
            </a:r>
          </a:p>
        </p:txBody>
      </p:sp>
      <p:sp>
        <p:nvSpPr>
          <p:cNvPr id="36" name="Rectángulo redondeado 35">
            <a:extLst>
              <a:ext uri="{FF2B5EF4-FFF2-40B4-BE49-F238E27FC236}">
                <a16:creationId xmlns:a16="http://schemas.microsoft.com/office/drawing/2014/main" id="{C22790C9-BC63-5049-91B7-59CADC2518AC}"/>
              </a:ext>
            </a:extLst>
          </p:cNvPr>
          <p:cNvSpPr/>
          <p:nvPr/>
        </p:nvSpPr>
        <p:spPr>
          <a:xfrm>
            <a:off x="4927600" y="3238500"/>
            <a:ext cx="3886200" cy="1079500"/>
          </a:xfrm>
          <a:prstGeom prst="roundRect">
            <a:avLst/>
          </a:prstGeom>
          <a:solidFill>
            <a:srgbClr val="016D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MX"/>
          </a:p>
        </p:txBody>
      </p:sp>
      <p:sp>
        <p:nvSpPr>
          <p:cNvPr id="37" name="CuadroTexto 36">
            <a:extLst>
              <a:ext uri="{FF2B5EF4-FFF2-40B4-BE49-F238E27FC236}">
                <a16:creationId xmlns:a16="http://schemas.microsoft.com/office/drawing/2014/main" id="{CF4F0332-2271-8642-AC25-324F3C761FAE}"/>
              </a:ext>
            </a:extLst>
          </p:cNvPr>
          <p:cNvSpPr txBox="1"/>
          <p:nvPr/>
        </p:nvSpPr>
        <p:spPr>
          <a:xfrm>
            <a:off x="5029200" y="3302000"/>
            <a:ext cx="36322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s-MX" sz="900">
                <a:solidFill>
                  <a:srgbClr val="E0F2F1"/>
                </a:solidFill>
                <a:latin typeface="Calibri"/>
                <a:cs typeface="Calibri"/>
              </a:rPr>
              <a:t>Margen bruto:</a:t>
            </a:r>
          </a:p>
        </p:txBody>
      </p:sp>
      <p:sp>
        <p:nvSpPr>
          <p:cNvPr id="38" name="CuadroTexto 37">
            <a:extLst>
              <a:ext uri="{FF2B5EF4-FFF2-40B4-BE49-F238E27FC236}">
                <a16:creationId xmlns:a16="http://schemas.microsoft.com/office/drawing/2014/main" id="{757C2329-C69C-1941-A1C1-627F10DD16CE}"/>
              </a:ext>
            </a:extLst>
          </p:cNvPr>
          <p:cNvSpPr txBox="1"/>
          <p:nvPr/>
        </p:nvSpPr>
        <p:spPr>
          <a:xfrm>
            <a:off x="5029200" y="3517900"/>
            <a:ext cx="36322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s-MX" sz="2800" b="1">
                <a:solidFill>
                  <a:srgbClr val="FFFFFF"/>
                </a:solidFill>
                <a:latin typeface="Calibri"/>
                <a:cs typeface="Calibri"/>
              </a:rPr>
              <a:t>$200,000</a:t>
            </a:r>
          </a:p>
        </p:txBody>
      </p:sp>
      <p:sp>
        <p:nvSpPr>
          <p:cNvPr id="39" name="CuadroTexto 38">
            <a:extLst>
              <a:ext uri="{FF2B5EF4-FFF2-40B4-BE49-F238E27FC236}">
                <a16:creationId xmlns:a16="http://schemas.microsoft.com/office/drawing/2014/main" id="{F4F6FC56-4F0C-244A-B560-83C0086D6548}"/>
              </a:ext>
            </a:extLst>
          </p:cNvPr>
          <p:cNvSpPr txBox="1"/>
          <p:nvPr/>
        </p:nvSpPr>
        <p:spPr>
          <a:xfrm>
            <a:off x="5029200" y="3937000"/>
            <a:ext cx="3632200" cy="177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s-MX" sz="800">
                <a:solidFill>
                  <a:srgbClr val="B2DFDB"/>
                </a:solidFill>
                <a:latin typeface="Calibri"/>
                <a:cs typeface="Calibri"/>
              </a:rPr>
              <a:t>MXN/mes  ·  44% margen  ·  $2.4M MXN/año</a:t>
            </a:r>
          </a:p>
        </p:txBody>
      </p:sp>
      <p:sp>
        <p:nvSpPr>
          <p:cNvPr id="40" name="CuadroTexto 39">
            <a:extLst>
              <a:ext uri="{FF2B5EF4-FFF2-40B4-BE49-F238E27FC236}">
                <a16:creationId xmlns:a16="http://schemas.microsoft.com/office/drawing/2014/main" id="{240A2CF3-C240-8B48-B6F4-08B54A356E2F}"/>
              </a:ext>
            </a:extLst>
          </p:cNvPr>
          <p:cNvSpPr txBox="1"/>
          <p:nvPr/>
        </p:nvSpPr>
        <p:spPr>
          <a:xfrm>
            <a:off x="457200" y="4572000"/>
            <a:ext cx="82296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s-MX" sz="600">
                <a:solidFill>
                  <a:srgbClr val="94A3B8"/>
                </a:solidFill>
                <a:latin typeface="Calibri"/>
                <a:cs typeface="Calibri"/>
              </a:rPr>
              <a:t>Supuestos: tasa fraude MX 2.81% (SIR Q1 2024) · ticket prom $1,231 MXN (RankingsLatam) · multiplier 1.5x (LexisNexis 2024 $4.61/$1) · recall 94% (modelo en test) · pricing 8% del ahorro al cliente</a:t>
            </a:r>
          </a:p>
        </p:txBody>
      </p:sp>
      <p:cxnSp>
        <p:nvCxnSpPr>
          <p:cNvPr id="42" name="Conector recto de flecha 41">
            <a:extLst>
              <a:ext uri="{FF2B5EF4-FFF2-40B4-BE49-F238E27FC236}">
                <a16:creationId xmlns:a16="http://schemas.microsoft.com/office/drawing/2014/main" id="{AD24C1C5-07EC-0444-90BC-E6D55EB524D4}"/>
              </a:ext>
            </a:extLst>
          </p:cNvPr>
          <p:cNvCxnSpPr/>
          <p:nvPr/>
        </p:nvCxnSpPr>
        <p:spPr>
          <a:xfrm>
            <a:off x="635000" y="2768600"/>
            <a:ext cx="3886200" cy="914400"/>
          </a:xfrm>
          <a:prstGeom prst="straightConnector1">
            <a:avLst/>
          </a:prstGeom>
          <a:ln w="9525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3517426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4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COSTO-BENEFICIO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threshold de negocio ahorra 73% vs el threshold academico</a:t>
            </a:r>
            <a:endParaRPr lang="en-US" sz="2800" dirty="0"/>
          </a:p>
        </p:txBody>
      </p:sp>
      <p:graphicFrame>
        <p:nvGraphicFramePr>
          <p:cNvPr id="4" name="Chart 0"/>
          <p:cNvGraphicFramePr/>
          <p:nvPr/>
        </p:nvGraphicFramePr>
        <p:xfrm>
          <a:off x="457200" y="1371600"/>
          <a:ext cx="5029200" cy="2926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Shape 2"/>
          <p:cNvSpPr/>
          <p:nvPr/>
        </p:nvSpPr>
        <p:spPr>
          <a:xfrm>
            <a:off x="5760720" y="1371600"/>
            <a:ext cx="2926080" cy="1371600"/>
          </a:xfrm>
          <a:prstGeom prst="roundRect">
            <a:avLst>
              <a:gd name="adj" fmla="val 5333"/>
            </a:avLst>
          </a:prstGeom>
          <a:solidFill>
            <a:srgbClr val="D1FAE5"/>
          </a:solidFill>
          <a:ln w="635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6" name="Text 3"/>
          <p:cNvSpPr/>
          <p:nvPr/>
        </p:nvSpPr>
        <p:spPr>
          <a:xfrm>
            <a:off x="5760720" y="146304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$47,698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5760720" y="212140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ahorro USD en val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5760720" y="239572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(-73% vs F1 max)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5760720" y="2880360"/>
            <a:ext cx="2926080" cy="1417320"/>
          </a:xfrm>
          <a:prstGeom prst="roundRect">
            <a:avLst>
              <a:gd name="adj" fmla="val 3871"/>
            </a:avLst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10" name="Text 7"/>
          <p:cNvSpPr/>
          <p:nvPr/>
        </p:nvSpPr>
        <p:spPr>
          <a:xfrm>
            <a:off x="5897880" y="2944368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Asunciones del modelo de costo: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5943600" y="3200400"/>
            <a:ext cx="265176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 = monto de la transaccion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 = $5 USD (revision manual)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Sweep de threshold sobre val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457200" y="4434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threshold optimo es mas bajo (mas recall) porque el dolor por dejar pasar fraude es proporcional al monto.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8229600" y="4864608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23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457200" y="486460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FraudShield · Capstone DS · 2026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4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 &amp; EXPLAINABILITY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Cuatro pilares que sustentan el servicio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196596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1580" y="1600200"/>
            <a:ext cx="457200" cy="457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214884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Proteccion de datos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594360" y="256032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PII tokenizada · LFPDPPP · retencion limitada · consentimiento explicito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2587752" y="1417320"/>
            <a:ext cx="196596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42132" y="1600200"/>
            <a:ext cx="457200" cy="45720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2679192" y="214884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Transparencia modelo</a:t>
            </a:r>
            <a:endParaRPr lang="en-US" sz="1300" dirty="0"/>
          </a:p>
        </p:txBody>
      </p:sp>
      <p:sp>
        <p:nvSpPr>
          <p:cNvPr id="11" name="Text 7"/>
          <p:cNvSpPr/>
          <p:nvPr/>
        </p:nvSpPr>
        <p:spPr>
          <a:xfrm>
            <a:off x="2724912" y="256032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card · SHAP por decision · razon humana en reporte quincenal</a:t>
            </a:r>
            <a:endParaRPr lang="en-US" sz="1000" dirty="0"/>
          </a:p>
        </p:txBody>
      </p:sp>
      <p:sp>
        <p:nvSpPr>
          <p:cNvPr id="12" name="Shape 8"/>
          <p:cNvSpPr/>
          <p:nvPr/>
        </p:nvSpPr>
        <p:spPr>
          <a:xfrm>
            <a:off x="4718304" y="1417320"/>
            <a:ext cx="196596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72684" y="1600200"/>
            <a:ext cx="457200" cy="45720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809744" y="214884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Fairness</a:t>
            </a:r>
            <a:endParaRPr lang="en-US" sz="1300" dirty="0"/>
          </a:p>
        </p:txBody>
      </p:sp>
      <p:sp>
        <p:nvSpPr>
          <p:cNvPr id="15" name="Text 10"/>
          <p:cNvSpPr/>
          <p:nvPr/>
        </p:nvSpPr>
        <p:spPr>
          <a:xfrm>
            <a:off x="4855464" y="256032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FPR por estado · grupo etario · vertical · monitoreo trimestral</a:t>
            </a:r>
            <a:endParaRPr lang="en-US" sz="1000" dirty="0"/>
          </a:p>
        </p:txBody>
      </p:sp>
      <p:sp>
        <p:nvSpPr>
          <p:cNvPr id="16" name="Shape 11"/>
          <p:cNvSpPr/>
          <p:nvPr/>
        </p:nvSpPr>
        <p:spPr>
          <a:xfrm>
            <a:off x="6848856" y="1417320"/>
            <a:ext cx="196596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03236" y="1600200"/>
            <a:ext cx="457200" cy="45720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0296" y="214884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Auditabilidad</a:t>
            </a:r>
            <a:endParaRPr lang="en-US" sz="1300" dirty="0"/>
          </a:p>
        </p:txBody>
      </p:sp>
      <p:sp>
        <p:nvSpPr>
          <p:cNvPr id="19" name="Text 13"/>
          <p:cNvSpPr/>
          <p:nvPr/>
        </p:nvSpPr>
        <p:spPr>
          <a:xfrm>
            <a:off x="6986016" y="256032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inmutable · trazabilidad · retencion 5 anios · reproducibilidad</a:t>
            </a:r>
            <a:endParaRPr 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457200" y="3429000"/>
            <a:ext cx="8229600" cy="502920"/>
          </a:xfrm>
          <a:prstGeom prst="roundRect">
            <a:avLst>
              <a:gd name="adj" fmla="val 10909"/>
            </a:avLst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21" name="Text 15"/>
          <p:cNvSpPr/>
          <p:nvPr/>
        </p:nvSpPr>
        <p:spPr>
          <a:xfrm>
            <a:off x="640080" y="3456432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Operacion end-to-end: API -&gt; Feature Store -&gt; Model API -&gt; Decision Engine -&gt; Case Management -&gt; Reporte</a:t>
            </a:r>
            <a:endParaRPr lang="en-US" sz="1100" dirty="0"/>
          </a:p>
        </p:txBody>
      </p:sp>
      <p:sp>
        <p:nvSpPr>
          <p:cNvPr id="22" name="Shape 16"/>
          <p:cNvSpPr/>
          <p:nvPr/>
        </p:nvSpPr>
        <p:spPr>
          <a:xfrm>
            <a:off x="457200" y="4069080"/>
            <a:ext cx="8229600" cy="594360"/>
          </a:xfrm>
          <a:prstGeom prst="roundRect">
            <a:avLst>
              <a:gd name="adj" fmla="val 9231"/>
            </a:avLst>
          </a:prstGeom>
          <a:solidFill>
            <a:srgbClr val="FEE2E2"/>
          </a:solidFill>
          <a:ln w="6350">
            <a:solidFill>
              <a:srgbClr val="FB7185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23" name="Text 17"/>
          <p:cNvSpPr/>
          <p:nvPr/>
        </p:nvSpPr>
        <p:spPr>
          <a:xfrm>
            <a:off x="640080" y="411480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99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Marco regulatorio mexicano: </a:t>
            </a:r>
            <a:r>
              <a:rPr lang="en-US" sz="1100" dirty="0">
                <a:solidFill>
                  <a:srgbClr val="7F1D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LFPDPPP (datos personales) · CNBV (outsourcing financiero) · Ley Fintech 2.0 (clasif. riesgo IA)</a:t>
            </a:r>
            <a:endParaRPr lang="en-US" sz="1100" dirty="0"/>
          </a:p>
        </p:txBody>
      </p:sp>
      <p:sp>
        <p:nvSpPr>
          <p:cNvPr id="24" name="Text 18"/>
          <p:cNvSpPr/>
          <p:nvPr/>
        </p:nvSpPr>
        <p:spPr>
          <a:xfrm>
            <a:off x="8229600" y="4864608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23</a:t>
            </a:r>
            <a:endParaRPr lang="en-US" sz="900" dirty="0"/>
          </a:p>
        </p:txBody>
      </p:sp>
      <p:sp>
        <p:nvSpPr>
          <p:cNvPr id="25" name="Text 19"/>
          <p:cNvSpPr/>
          <p:nvPr/>
        </p:nvSpPr>
        <p:spPr>
          <a:xfrm>
            <a:off x="457200" y="486460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FraudShield · Capstone DS · 2026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4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DIFERENCIACION COMPETITIVA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Comparado con la competencia real del mercado</a:t>
            </a:r>
            <a:endParaRPr lang="en-US" sz="28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280160"/>
          <a:ext cx="8412480" cy="2688336"/>
        </p:xfrm>
        <a:graphic>
          <a:graphicData uri="http://schemas.openxmlformats.org/drawingml/2006/table">
            <a:tbl>
              <a:tblPr/>
              <a:tblGrid>
                <a:gridCol w="1463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Dimension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Banco propio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Stripe Radar /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Conekta Fortress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Signifyd / ClearSale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FraudShield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C39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Quien opera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Equipo interno banco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Comerciante self-service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Comerciante + soporte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Nosotros (managed)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Esfuerzo cliente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N/A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Medio (configurar)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Alto (RFP + integracion)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0596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Minimo (recibe reportes)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Ciclo de venta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Self-service inmediato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6-12 meses, RFP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Demo + setup en 5 dias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Pricing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USD $0.05-0.07/tx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Enterprise contracts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Suscripcion mensual fija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Target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 propia operacion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Cualquier merchant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i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Enterprise &gt;$10M USD/anio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0596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PyME 200-2K tx/mes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Soporte humano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 (interno)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 (analista enterprise)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 (analista MX en espanol)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4251960"/>
            <a:ext cx="8229600" cy="457200"/>
          </a:xfrm>
          <a:prstGeom prst="roundRect">
            <a:avLst>
              <a:gd name="adj" fmla="val 12000"/>
            </a:avLst>
          </a:prstGeom>
          <a:solidFill>
            <a:srgbClr val="ECFDF5"/>
          </a:solidFill>
          <a:ln w="635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6" name="Text 3"/>
          <p:cNvSpPr/>
          <p:nvPr/>
        </p:nvSpPr>
        <p:spPr>
          <a:xfrm>
            <a:off x="640080" y="429768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Stripe vende infraestructura para que otros operen. Nosotros operamos por el cliente. Es un producto distinto.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8229600" y="4864608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23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457200" y="486460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FraudShield · Capstone DS · 2026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4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BARRERAS DE ENTRADA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</a:rPr>
              <a:t>Retos de entrar a la industria</a:t>
            </a:r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4069080" cy="3108960"/>
          </a:xfrm>
          <a:prstGeom prst="roundRect">
            <a:avLst>
              <a:gd name="adj" fmla="val 2353"/>
            </a:avLst>
          </a:prstGeom>
          <a:solidFill>
            <a:srgbClr val="FEF3C7"/>
          </a:solidFill>
          <a:ln w="635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6" name="Text 3"/>
          <p:cNvSpPr/>
          <p:nvPr/>
        </p:nvSpPr>
        <p:spPr>
          <a:xfrm>
            <a:off x="1097280" y="15087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MX" sz="1400" b="1" dirty="0">
                <a:solidFill>
                  <a:srgbClr val="DC2626"/>
                </a:solidFill>
                <a:latin typeface="Calibri" pitchFamily="34" charset="0"/>
              </a:rPr>
              <a:t>Lo que nos cuesta entrar</a:t>
            </a:r>
          </a:p>
        </p:txBody>
      </p:sp>
      <p:sp>
        <p:nvSpPr>
          <p:cNvPr id="7" name="Text 4"/>
          <p:cNvSpPr/>
          <p:nvPr/>
        </p:nvSpPr>
        <p:spPr>
          <a:xfrm>
            <a:off x="685800" y="2011680"/>
            <a:ext cx="361188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spcAft>
                <a:spcPts val="200"/>
              </a:spcAft>
              <a:buNone/>
            </a:pPr>
            <a:r>
              <a:rPr lang="es-MX" sz="1100" b="1" dirty="0">
                <a:solidFill>
                  <a:srgbClr val="DC2626"/>
                </a:solidFill>
                <a:latin typeface="Calibri" pitchFamily="34" charset="0"/>
              </a:rPr>
              <a:t>1  </a:t>
            </a:r>
            <a:r>
              <a:rPr lang="es-MX" sz="1100" b="1" dirty="0">
                <a:solidFill>
                  <a:srgbClr val="1E293B"/>
                </a:solidFill>
                <a:latin typeface="Calibri" pitchFamily="34" charset="0"/>
              </a:rPr>
              <a:t>Certificaciones</a:t>
            </a:r>
          </a:p>
          <a:p>
            <a:pPr marL="228600" indent="0">
              <a:spcAft>
                <a:spcPts val="500"/>
              </a:spcAft>
              <a:buNone/>
            </a:pPr>
            <a:r>
              <a:rPr lang="es-MX" sz="1000" dirty="0">
                <a:solidFill>
                  <a:srgbClr val="64748B"/>
                </a:solidFill>
                <a:latin typeface="Calibri" pitchFamily="34" charset="0"/>
              </a:rPr>
              <a:t>SOC 2 + ISO 27001 son requisitos para operar con datos financieros.</a:t>
            </a:r>
          </a:p>
          <a:p>
            <a:pPr marL="0" indent="0">
              <a:spcAft>
                <a:spcPts val="200"/>
              </a:spcAft>
              <a:buNone/>
            </a:pPr>
            <a:r>
              <a:rPr lang="es-MX" sz="1100" b="1" dirty="0">
                <a:solidFill>
                  <a:srgbClr val="DC2626"/>
                </a:solidFill>
                <a:latin typeface="Calibri" pitchFamily="34" charset="0"/>
              </a:rPr>
              <a:t>2  </a:t>
            </a:r>
            <a:r>
              <a:rPr lang="es-MX" sz="1100" b="1" dirty="0">
                <a:solidFill>
                  <a:srgbClr val="1E293B"/>
                </a:solidFill>
                <a:latin typeface="Calibri" pitchFamily="34" charset="0"/>
              </a:rPr>
              <a:t>CAC alto inicial</a:t>
            </a:r>
          </a:p>
          <a:p>
            <a:pPr marL="228600" indent="0">
              <a:spcAft>
                <a:spcPts val="500"/>
              </a:spcAft>
              <a:buNone/>
            </a:pPr>
            <a:r>
              <a:rPr lang="es-MX" sz="1000" dirty="0">
                <a:solidFill>
                  <a:srgbClr val="64748B"/>
                </a:solidFill>
                <a:latin typeface="Calibri" pitchFamily="34" charset="0"/>
              </a:rPr>
              <a:t>Ciclo de venta 5-7 días con demo + integración asistida.</a:t>
            </a:r>
          </a:p>
          <a:p>
            <a:pPr marL="0" indent="0">
              <a:spcAft>
                <a:spcPts val="200"/>
              </a:spcAft>
              <a:buNone/>
            </a:pPr>
            <a:r>
              <a:rPr lang="es-MX" sz="1100" b="1" dirty="0">
                <a:solidFill>
                  <a:srgbClr val="DC2626"/>
                </a:solidFill>
                <a:latin typeface="Calibri" pitchFamily="34" charset="0"/>
              </a:rPr>
              <a:t>3  </a:t>
            </a:r>
            <a:r>
              <a:rPr lang="es-MX" sz="1100" b="1" dirty="0">
                <a:solidFill>
                  <a:srgbClr val="1E293B"/>
                </a:solidFill>
                <a:latin typeface="Calibri" pitchFamily="34" charset="0"/>
              </a:rPr>
              <a:t>Integración por procesador</a:t>
            </a:r>
          </a:p>
          <a:p>
            <a:pPr marL="228600" indent="0">
              <a:spcAft>
                <a:spcPts val="500"/>
              </a:spcAft>
              <a:buNone/>
            </a:pPr>
            <a:r>
              <a:rPr lang="es-MX" sz="1000" dirty="0">
                <a:solidFill>
                  <a:srgbClr val="64748B"/>
                </a:solidFill>
                <a:latin typeface="Calibri" pitchFamily="34" charset="0"/>
              </a:rPr>
              <a:t>Conekta, MP, Stripe: cada uno es una integración técnica distinta.</a:t>
            </a:r>
          </a:p>
          <a:p>
            <a:pPr marL="0" indent="0">
              <a:spcAft>
                <a:spcPts val="200"/>
              </a:spcAft>
              <a:buNone/>
            </a:pPr>
            <a:r>
              <a:rPr lang="es-MX" sz="1100" b="1" dirty="0">
                <a:solidFill>
                  <a:srgbClr val="DC2626"/>
                </a:solidFill>
                <a:latin typeface="Calibri" pitchFamily="34" charset="0"/>
              </a:rPr>
              <a:t>4  </a:t>
            </a:r>
            <a:r>
              <a:rPr lang="es-MX" sz="1100" b="1" dirty="0">
                <a:solidFill>
                  <a:srgbClr val="1E293B"/>
                </a:solidFill>
                <a:latin typeface="Calibri" pitchFamily="34" charset="0"/>
              </a:rPr>
              <a:t>Tiempo para entrenar al modelo</a:t>
            </a:r>
            <a:endParaRPr lang="es-MX" sz="1000" dirty="0">
              <a:solidFill>
                <a:srgbClr val="64748B"/>
              </a:solidFill>
              <a:latin typeface="Calibri" pitchFamily="34" charset="0"/>
            </a:endParaRPr>
          </a:p>
          <a:p>
            <a:pPr marL="0" indent="0">
              <a:spcAft>
                <a:spcPts val="200"/>
              </a:spcAft>
              <a:buNone/>
            </a:pPr>
            <a:r>
              <a:rPr lang="es-MX" sz="1100" b="1" dirty="0">
                <a:solidFill>
                  <a:srgbClr val="DC2626"/>
                </a:solidFill>
                <a:latin typeface="Calibri" pitchFamily="34" charset="0"/>
              </a:rPr>
              <a:t>5  </a:t>
            </a:r>
            <a:r>
              <a:rPr lang="es-MX" sz="1100" b="1" dirty="0">
                <a:solidFill>
                  <a:srgbClr val="1E293B"/>
                </a:solidFill>
                <a:latin typeface="Calibri" pitchFamily="34" charset="0"/>
              </a:rPr>
              <a:t>Desventaja en infraestructura</a:t>
            </a:r>
          </a:p>
          <a:p>
            <a:pPr marL="228600" indent="0">
              <a:spcAft>
                <a:spcPts val="200"/>
              </a:spcAft>
              <a:buNone/>
            </a:pPr>
            <a:r>
              <a:rPr lang="es-MX" sz="1000" dirty="0">
                <a:solidFill>
                  <a:srgbClr val="64748B"/>
                </a:solidFill>
                <a:latin typeface="Calibri" pitchFamily="34" charset="0"/>
              </a:rPr>
              <a:t>Los incumbentes tienen recursos muy superiores a los nuestros.</a:t>
            </a:r>
          </a:p>
        </p:txBody>
      </p:sp>
      <p:sp>
        <p:nvSpPr>
          <p:cNvPr id="8" name="Shape 5"/>
          <p:cNvSpPr/>
          <p:nvPr/>
        </p:nvSpPr>
        <p:spPr>
          <a:xfrm>
            <a:off x="4617720" y="1325880"/>
            <a:ext cx="4069080" cy="3108960"/>
          </a:xfrm>
          <a:prstGeom prst="roundRect">
            <a:avLst>
              <a:gd name="adj" fmla="val 2353"/>
            </a:avLst>
          </a:prstGeom>
          <a:solidFill>
            <a:srgbClr val="ECFDF5"/>
          </a:solidFill>
          <a:ln w="635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10" name="Text 6"/>
          <p:cNvSpPr/>
          <p:nvPr/>
        </p:nvSpPr>
        <p:spPr>
          <a:xfrm>
            <a:off x="5257800" y="15087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MX" sz="1400" b="1" dirty="0">
                <a:solidFill>
                  <a:srgbClr val="028090"/>
                </a:solidFill>
                <a:latin typeface="Calibri" pitchFamily="34" charset="0"/>
              </a:rPr>
              <a:t>Lo que nos protege de copia</a:t>
            </a:r>
          </a:p>
        </p:txBody>
      </p:sp>
      <p:sp>
        <p:nvSpPr>
          <p:cNvPr id="11" name="Text 7"/>
          <p:cNvSpPr/>
          <p:nvPr/>
        </p:nvSpPr>
        <p:spPr>
          <a:xfrm>
            <a:off x="4846320" y="2011680"/>
            <a:ext cx="361188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spcAft>
                <a:spcPts val="200"/>
              </a:spcAft>
              <a:buNone/>
            </a:pPr>
            <a:r>
              <a:rPr lang="es-MX" sz="1100" b="1" dirty="0">
                <a:solidFill>
                  <a:srgbClr val="028090"/>
                </a:solidFill>
                <a:latin typeface="Calibri" pitchFamily="34" charset="0"/>
              </a:rPr>
              <a:t>1  </a:t>
            </a:r>
            <a:r>
              <a:rPr lang="es-MX" sz="1100" b="1" dirty="0">
                <a:solidFill>
                  <a:srgbClr val="1E293B"/>
                </a:solidFill>
                <a:latin typeface="Calibri" pitchFamily="34" charset="0"/>
              </a:rPr>
              <a:t>Datos acumulados</a:t>
            </a:r>
          </a:p>
          <a:p>
            <a:pPr marL="228600" indent="0">
              <a:spcAft>
                <a:spcPts val="500"/>
              </a:spcAft>
              <a:buNone/>
            </a:pPr>
            <a:r>
              <a:rPr lang="es-MX" sz="1000" dirty="0">
                <a:solidFill>
                  <a:srgbClr val="64748B"/>
                </a:solidFill>
                <a:latin typeface="Calibri" pitchFamily="34" charset="0"/>
              </a:rPr>
              <a:t>Cada cliente mejora el modelo para todos. Compounding effect.</a:t>
            </a:r>
          </a:p>
          <a:p>
            <a:pPr marL="0" indent="0">
              <a:spcAft>
                <a:spcPts val="200"/>
              </a:spcAft>
              <a:buNone/>
            </a:pPr>
            <a:r>
              <a:rPr lang="es-MX" sz="1100" b="1" dirty="0">
                <a:solidFill>
                  <a:srgbClr val="028090"/>
                </a:solidFill>
                <a:latin typeface="Calibri" pitchFamily="34" charset="0"/>
              </a:rPr>
              <a:t>2  </a:t>
            </a:r>
            <a:r>
              <a:rPr lang="es-MX" sz="1100" b="1" dirty="0">
                <a:solidFill>
                  <a:srgbClr val="1E293B"/>
                </a:solidFill>
                <a:latin typeface="Calibri" pitchFamily="34" charset="0"/>
              </a:rPr>
              <a:t>Analista humano integrado</a:t>
            </a:r>
          </a:p>
          <a:p>
            <a:pPr marL="228600" indent="0">
              <a:spcAft>
                <a:spcPts val="500"/>
              </a:spcAft>
              <a:buNone/>
            </a:pPr>
            <a:r>
              <a:rPr lang="es-MX" sz="1000" dirty="0">
                <a:solidFill>
                  <a:srgbClr val="64748B"/>
                </a:solidFill>
                <a:latin typeface="Calibri" pitchFamily="34" charset="0"/>
              </a:rPr>
              <a:t>Stripe/Conekta no lo tienen. Bancos no escalan a PyMEs.</a:t>
            </a:r>
          </a:p>
          <a:p>
            <a:pPr marL="0" indent="0">
              <a:spcAft>
                <a:spcPts val="200"/>
              </a:spcAft>
              <a:buNone/>
            </a:pPr>
            <a:r>
              <a:rPr lang="es-MX" sz="1100" b="1" dirty="0">
                <a:solidFill>
                  <a:srgbClr val="028090"/>
                </a:solidFill>
                <a:latin typeface="Calibri" pitchFamily="34" charset="0"/>
              </a:rPr>
              <a:t>3  </a:t>
            </a:r>
            <a:r>
              <a:rPr lang="es-MX" sz="1100" b="1" dirty="0">
                <a:solidFill>
                  <a:srgbClr val="1E293B"/>
                </a:solidFill>
                <a:latin typeface="Calibri" pitchFamily="34" charset="0"/>
              </a:rPr>
              <a:t>Switching cost alto</a:t>
            </a:r>
          </a:p>
          <a:p>
            <a:pPr marL="228600" indent="0">
              <a:spcAft>
                <a:spcPts val="500"/>
              </a:spcAft>
              <a:buNone/>
            </a:pPr>
            <a:r>
              <a:rPr lang="es-MX" sz="1000" dirty="0">
                <a:solidFill>
                  <a:srgbClr val="64748B"/>
                </a:solidFill>
                <a:latin typeface="Calibri" pitchFamily="34" charset="0"/>
              </a:rPr>
              <a:t>API integrada en checkout. Cambiar = re-integrar y operar a riesgo.</a:t>
            </a:r>
          </a:p>
          <a:p>
            <a:pPr marL="0" indent="0">
              <a:spcAft>
                <a:spcPts val="200"/>
              </a:spcAft>
              <a:buNone/>
            </a:pPr>
            <a:r>
              <a:rPr lang="es-MX" sz="1100" b="1" dirty="0">
                <a:solidFill>
                  <a:srgbClr val="028090"/>
                </a:solidFill>
                <a:latin typeface="Calibri" pitchFamily="34" charset="0"/>
              </a:rPr>
              <a:t>4  </a:t>
            </a:r>
            <a:r>
              <a:rPr lang="es-MX" sz="1100" b="1" dirty="0">
                <a:solidFill>
                  <a:srgbClr val="1E293B"/>
                </a:solidFill>
                <a:latin typeface="Calibri" pitchFamily="34" charset="0"/>
              </a:rPr>
              <a:t>Confianza personal</a:t>
            </a:r>
          </a:p>
          <a:p>
            <a:pPr marL="228600" indent="0">
              <a:spcAft>
                <a:spcPts val="200"/>
              </a:spcAft>
              <a:buNone/>
            </a:pPr>
            <a:r>
              <a:rPr lang="es-MX" sz="1000" dirty="0">
                <a:solidFill>
                  <a:srgbClr val="64748B"/>
                </a:solidFill>
                <a:latin typeface="Calibri" pitchFamily="34" charset="0"/>
              </a:rPr>
              <a:t>El cliente conoce a su analista por nombre. Relación humana, no software.</a:t>
            </a:r>
          </a:p>
        </p:txBody>
      </p:sp>
      <p:sp>
        <p:nvSpPr>
          <p:cNvPr id="12" name="Shape 8"/>
          <p:cNvSpPr/>
          <p:nvPr/>
        </p:nvSpPr>
        <p:spPr>
          <a:xfrm>
            <a:off x="457200" y="4526280"/>
            <a:ext cx="8229600" cy="292608"/>
          </a:xfrm>
          <a:prstGeom prst="roundRect">
            <a:avLst>
              <a:gd name="adj" fmla="val 18750"/>
            </a:avLst>
          </a:prstGeom>
          <a:solidFill>
            <a:srgbClr val="0B3D43"/>
          </a:solidFill>
          <a:ln w="12700">
            <a:solidFill>
              <a:srgbClr val="0B3D43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13" name="Text 9"/>
          <p:cNvSpPr/>
          <p:nvPr/>
        </p:nvSpPr>
        <p:spPr>
          <a:xfrm>
            <a:off x="640080" y="4526280"/>
            <a:ext cx="7863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Validacion del mercado:  </a:t>
            </a: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Experian compro ClearSale por USD $350M (oct 2024). Mercado fraud-detection LATAM crece 15.6% CAGR (USD 1.37B 2025 -&gt; USD 5.08B 2034).</a:t>
            </a:r>
            <a:endParaRPr lang="en-US" sz="900" dirty="0"/>
          </a:p>
        </p:txBody>
      </p:sp>
      <p:sp>
        <p:nvSpPr>
          <p:cNvPr id="14" name="Text 10"/>
          <p:cNvSpPr/>
          <p:nvPr/>
        </p:nvSpPr>
        <p:spPr>
          <a:xfrm>
            <a:off x="8229600" y="4864608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25</a:t>
            </a:r>
          </a:p>
        </p:txBody>
      </p:sp>
      <p:sp>
        <p:nvSpPr>
          <p:cNvPr id="15" name="Text 11"/>
          <p:cNvSpPr/>
          <p:nvPr/>
        </p:nvSpPr>
        <p:spPr>
          <a:xfrm>
            <a:off x="457200" y="486460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FraudShield · Capstone DS · 2026</a:t>
            </a:r>
            <a:endParaRPr lang="en-US" sz="900" dirty="0"/>
          </a:p>
        </p:txBody>
      </p:sp>
      <p:pic>
        <p:nvPicPr>
          <p:cNvPr id="16" name="Graphic 16" descr="Barrier ic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35000" y="1473200"/>
            <a:ext cx="330200" cy="330200"/>
          </a:xfrm>
          <a:prstGeom prst="rect">
            <a:avLst/>
          </a:prstGeom>
        </p:spPr>
      </p:pic>
      <p:pic>
        <p:nvPicPr>
          <p:cNvPr id="17" name="Graphic 17" descr="Shield ic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800600" y="1473200"/>
            <a:ext cx="330200" cy="330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772613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4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 FUTURA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 de 12-24 meses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269748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536192"/>
            <a:ext cx="365760" cy="3657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97280" y="155448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Federated learning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0080" y="2057400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Entrenar el modelo entre clientes sin compartir datos. Cada PyME se beneficia del agregado.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3218688" y="1371600"/>
            <a:ext cx="269748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01568" y="1536192"/>
            <a:ext cx="365760" cy="36576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3858768" y="155448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 fraud detection</a:t>
            </a:r>
            <a:endParaRPr lang="en-US" sz="1300" dirty="0"/>
          </a:p>
        </p:txBody>
      </p:sp>
      <p:sp>
        <p:nvSpPr>
          <p:cNvPr id="11" name="Text 7"/>
          <p:cNvSpPr/>
          <p:nvPr/>
        </p:nvSpPr>
        <p:spPr>
          <a:xfrm>
            <a:off x="3401568" y="2057400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Modelar transaccion-merchant-device-tarjeta como grafo. Captura fraud rings.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5980176" y="1371600"/>
            <a:ext cx="269748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63056" y="1536192"/>
            <a:ext cx="365760" cy="36576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620256" y="155448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Consortium intelligence</a:t>
            </a:r>
            <a:endParaRPr lang="en-US" sz="1300" dirty="0"/>
          </a:p>
        </p:txBody>
      </p:sp>
      <p:sp>
        <p:nvSpPr>
          <p:cNvPr id="15" name="Text 10"/>
          <p:cNvSpPr/>
          <p:nvPr/>
        </p:nvSpPr>
        <p:spPr>
          <a:xfrm>
            <a:off x="6163056" y="2057400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Compartir</a:t>
            </a: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5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señales</a:t>
            </a: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fraude entre PyMEs (sin PII). Tarjeta marcada en una alerta a las demas.</a:t>
            </a:r>
            <a:endParaRPr lang="en-US" sz="1050" dirty="0"/>
          </a:p>
        </p:txBody>
      </p:sp>
      <p:sp>
        <p:nvSpPr>
          <p:cNvPr id="16" name="Shape 11"/>
          <p:cNvSpPr/>
          <p:nvPr/>
        </p:nvSpPr>
        <p:spPr>
          <a:xfrm>
            <a:off x="457200" y="3063240"/>
            <a:ext cx="269748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80" y="3227832"/>
            <a:ext cx="365760" cy="36576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097280" y="324612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Online learning</a:t>
            </a:r>
            <a:endParaRPr lang="en-US" sz="1300" dirty="0"/>
          </a:p>
        </p:txBody>
      </p:sp>
      <p:sp>
        <p:nvSpPr>
          <p:cNvPr id="19" name="Text 13"/>
          <p:cNvSpPr/>
          <p:nvPr/>
        </p:nvSpPr>
        <p:spPr>
          <a:xfrm>
            <a:off x="640080" y="3749040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Re-entreno incremental con chargebacks confirmados. Ajuste de sensibilidad near-real-time.</a:t>
            </a:r>
            <a:endParaRPr lang="en-US" sz="1050" dirty="0"/>
          </a:p>
        </p:txBody>
      </p:sp>
      <p:sp>
        <p:nvSpPr>
          <p:cNvPr id="20" name="Shape 14"/>
          <p:cNvSpPr/>
          <p:nvPr/>
        </p:nvSpPr>
        <p:spPr>
          <a:xfrm>
            <a:off x="3218688" y="3063240"/>
            <a:ext cx="269748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pic>
        <p:nvPicPr>
          <p:cNvPr id="21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01568" y="3227832"/>
            <a:ext cx="365760" cy="365760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3858768" y="324612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para casos complejos</a:t>
            </a:r>
            <a:endParaRPr lang="en-US" sz="1300" dirty="0"/>
          </a:p>
        </p:txBody>
      </p:sp>
      <p:sp>
        <p:nvSpPr>
          <p:cNvPr id="23" name="Text 16"/>
          <p:cNvSpPr/>
          <p:nvPr/>
        </p:nvSpPr>
        <p:spPr>
          <a:xfrm>
            <a:off x="3401568" y="3749040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Analista asistido por LLM. Sintesis de contexto reduce tiempo de resolucion 4-8 min a 1-2 min.</a:t>
            </a:r>
            <a:endParaRPr lang="en-US" sz="1050" dirty="0"/>
          </a:p>
        </p:txBody>
      </p:sp>
      <p:sp>
        <p:nvSpPr>
          <p:cNvPr id="24" name="Shape 17"/>
          <p:cNvSpPr/>
          <p:nvPr/>
        </p:nvSpPr>
        <p:spPr>
          <a:xfrm>
            <a:off x="5980176" y="3063240"/>
            <a:ext cx="269748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pic>
        <p:nvPicPr>
          <p:cNvPr id="25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63056" y="3227832"/>
            <a:ext cx="365760" cy="365760"/>
          </a:xfrm>
          <a:prstGeom prst="rect">
            <a:avLst/>
          </a:prstGeom>
        </p:spPr>
      </p:pic>
      <p:sp>
        <p:nvSpPr>
          <p:cNvPr id="26" name="Text 18"/>
          <p:cNvSpPr/>
          <p:nvPr/>
        </p:nvSpPr>
        <p:spPr>
          <a:xfrm>
            <a:off x="6620256" y="324612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Expansion México</a:t>
            </a:r>
            <a:endParaRPr lang="en-US" sz="1300" dirty="0"/>
          </a:p>
        </p:txBody>
      </p:sp>
      <p:sp>
        <p:nvSpPr>
          <p:cNvPr id="27" name="Text 19"/>
          <p:cNvSpPr/>
          <p:nvPr/>
        </p:nvSpPr>
        <p:spPr>
          <a:xfrm>
            <a:off x="6163056" y="3749040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Replicar </a:t>
            </a:r>
            <a:r>
              <a:rPr lang="en-US" sz="105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</a:t>
            </a: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5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otros</a:t>
            </a: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5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Estados</a:t>
            </a: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la República</a:t>
            </a:r>
            <a:endParaRPr lang="en-US" sz="1050" dirty="0"/>
          </a:p>
        </p:txBody>
      </p:sp>
      <p:sp>
        <p:nvSpPr>
          <p:cNvPr id="28" name="Text 20"/>
          <p:cNvSpPr/>
          <p:nvPr/>
        </p:nvSpPr>
        <p:spPr>
          <a:xfrm>
            <a:off x="8229600" y="4864608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/ 23</a:t>
            </a:r>
            <a:endParaRPr lang="en-US" sz="900" dirty="0"/>
          </a:p>
        </p:txBody>
      </p:sp>
      <p:sp>
        <p:nvSpPr>
          <p:cNvPr id="29" name="Text 21"/>
          <p:cNvSpPr/>
          <p:nvPr/>
        </p:nvSpPr>
        <p:spPr>
          <a:xfrm>
            <a:off x="457200" y="486460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FraudShield · Capstone DS · 2026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uadroTexto 2">
            <a:extLst>
              <a:ext uri="{FF2B5EF4-FFF2-40B4-BE49-F238E27FC236}">
                <a16:creationId xmlns:a16="http://schemas.microsoft.com/office/drawing/2014/main" id="{96D33CED-0EDA-2F46-8295-99D67954FBBD}"/>
              </a:ext>
            </a:extLst>
          </p:cNvPr>
          <p:cNvSpPr txBox="1"/>
          <p:nvPr/>
        </p:nvSpPr>
        <p:spPr>
          <a:xfrm>
            <a:off x="260431" y="20658"/>
            <a:ext cx="822960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s-MX" sz="2200" b="1" dirty="0">
                <a:solidFill>
                  <a:srgbClr val="1E293B"/>
                </a:solidFill>
                <a:latin typeface="Calibri"/>
                <a:cs typeface="Calibri"/>
              </a:rPr>
              <a:t>Fuentes y referencias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6151DDBD-16EE-914A-B8F5-91C0B0CE5C9E}"/>
              </a:ext>
            </a:extLst>
          </p:cNvPr>
          <p:cNvSpPr txBox="1"/>
          <p:nvPr/>
        </p:nvSpPr>
        <p:spPr>
          <a:xfrm>
            <a:off x="457200" y="4864100"/>
            <a:ext cx="36576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s-MX" sz="900">
                <a:solidFill>
                  <a:srgbClr val="94A3B8"/>
                </a:solidFill>
                <a:latin typeface="Calibri"/>
                <a:cs typeface="Calibri"/>
              </a:rPr>
              <a:t>FraudShield · Capstone DS · 2026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FDB61E9E-47EB-3748-9531-3E9DDC3345DE}"/>
              </a:ext>
            </a:extLst>
          </p:cNvPr>
          <p:cNvSpPr txBox="1"/>
          <p:nvPr/>
        </p:nvSpPr>
        <p:spPr>
          <a:xfrm>
            <a:off x="8229600" y="4864100"/>
            <a:ext cx="8255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s-MX" sz="900">
                <a:solidFill>
                  <a:srgbClr val="94A3B8"/>
                </a:solidFill>
                <a:latin typeface="Calibri"/>
                <a:cs typeface="Calibri"/>
              </a:rPr>
              <a:t>25 / 25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73E47CCF-96E6-2A4E-ACB9-A99EE8CDAD0C}"/>
              </a:ext>
            </a:extLst>
          </p:cNvPr>
          <p:cNvSpPr txBox="1"/>
          <p:nvPr/>
        </p:nvSpPr>
        <p:spPr>
          <a:xfrm>
            <a:off x="457200" y="604858"/>
            <a:ext cx="4114800" cy="3149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marL="0" indent="0">
              <a:spcAft>
                <a:spcPts val="200"/>
              </a:spcAft>
              <a:buNone/>
            </a:pPr>
            <a:r>
              <a:rPr lang="es-MX" sz="1100" b="1" dirty="0">
                <a:solidFill>
                  <a:srgbClr val="028090"/>
                </a:solidFill>
                <a:latin typeface="Calibri"/>
              </a:rPr>
              <a:t>Mercado e-commerce México</a:t>
            </a:r>
          </a:p>
          <a:p>
            <a:pPr marL="171450" indent="-171450">
              <a:spcAft>
                <a:spcPts val="100"/>
              </a:spcAft>
              <a:buFont typeface="Arial"/>
              <a:buChar char="•"/>
            </a:pPr>
            <a:r>
              <a:rPr lang="es-MX" sz="1100" b="1" dirty="0">
                <a:solidFill>
                  <a:srgbClr val="475569"/>
                </a:solidFill>
                <a:latin typeface="Calibri"/>
              </a:rPr>
              <a:t>AMVO.</a:t>
            </a:r>
            <a:r>
              <a:rPr lang="es-MX" sz="1100" dirty="0">
                <a:solidFill>
                  <a:srgbClr val="475569"/>
                </a:solidFill>
                <a:latin typeface="Calibri"/>
              </a:rPr>
              <a:t> Estudio de Venta Online México 2024. 67.2M compradores online.</a:t>
            </a:r>
          </a:p>
          <a:p>
            <a:pPr marL="171450" indent="-171450">
              <a:spcAft>
                <a:spcPts val="100"/>
              </a:spcAft>
              <a:buFont typeface="Arial"/>
              <a:buChar char="•"/>
            </a:pPr>
            <a:r>
              <a:rPr lang="es-MX" sz="1100" b="1" dirty="0">
                <a:solidFill>
                  <a:srgbClr val="475569"/>
                </a:solidFill>
                <a:latin typeface="Calibri"/>
              </a:rPr>
              <a:t>INEGI.</a:t>
            </a:r>
            <a:r>
              <a:rPr lang="es-MX" sz="1100" dirty="0">
                <a:solidFill>
                  <a:srgbClr val="475569"/>
                </a:solidFill>
                <a:latin typeface="Calibri"/>
              </a:rPr>
              <a:t> ENDUTIH 2024. ~80,000 tiendas online.</a:t>
            </a:r>
          </a:p>
          <a:p>
            <a:pPr marL="171450" indent="-171450">
              <a:spcAft>
                <a:spcPts val="100"/>
              </a:spcAft>
              <a:buFont typeface="Arial"/>
              <a:buChar char="•"/>
            </a:pPr>
            <a:r>
              <a:rPr lang="es-MX" sz="1100" b="1" dirty="0">
                <a:solidFill>
                  <a:srgbClr val="475569"/>
                </a:solidFill>
                <a:latin typeface="Calibri"/>
              </a:rPr>
              <a:t>Banco de México vía RankingsLatam.</a:t>
            </a:r>
            <a:r>
              <a:rPr lang="es-MX" sz="1100" dirty="0">
                <a:solidFill>
                  <a:srgbClr val="475569"/>
                </a:solidFill>
                <a:latin typeface="Calibri"/>
              </a:rPr>
              <a:t> Insights into Mexico’s eCommerce Payments Landscape, sep 2024. Ticket prom $1,231 MXN; chargebacks 0.37%.</a:t>
            </a:r>
          </a:p>
          <a:p>
            <a:pPr marL="171450" indent="-171450">
              <a:spcAft>
                <a:spcPts val="100"/>
              </a:spcAft>
              <a:buFont typeface="Arial"/>
              <a:buChar char="•"/>
            </a:pPr>
            <a:r>
              <a:rPr lang="es-MX" sz="1100" b="1" dirty="0">
                <a:solidFill>
                  <a:srgbClr val="475569"/>
                </a:solidFill>
                <a:latin typeface="Calibri"/>
              </a:rPr>
              <a:t>CONDUSEF (vía Tiendanube).</a:t>
            </a:r>
            <a:r>
              <a:rPr lang="es-MX" sz="1100" dirty="0">
                <a:solidFill>
                  <a:srgbClr val="475569"/>
                </a:solidFill>
                <a:latin typeface="Calibri"/>
              </a:rPr>
              <a:t> $3,410M MXN en contracargos e-commerce México 2024.</a:t>
            </a:r>
          </a:p>
          <a:p>
            <a:pPr marL="0" indent="0">
              <a:spcBef>
                <a:spcPts val="400"/>
              </a:spcBef>
              <a:spcAft>
                <a:spcPts val="200"/>
              </a:spcAft>
              <a:buNone/>
            </a:pPr>
            <a:r>
              <a:rPr lang="es-MX" sz="1100" b="1" dirty="0">
                <a:solidFill>
                  <a:srgbClr val="028090"/>
                </a:solidFill>
                <a:latin typeface="Calibri"/>
              </a:rPr>
              <a:t>Estadísticas de fraude y chargebacks</a:t>
            </a:r>
          </a:p>
          <a:p>
            <a:pPr marL="171450" indent="-171450">
              <a:spcAft>
                <a:spcPts val="100"/>
              </a:spcAft>
              <a:buFont typeface="Arial"/>
              <a:buChar char="•"/>
            </a:pPr>
            <a:r>
              <a:rPr lang="es-MX" sz="1100" b="1" dirty="0">
                <a:solidFill>
                  <a:srgbClr val="475569"/>
                </a:solidFill>
                <a:latin typeface="Calibri"/>
              </a:rPr>
              <a:t>Sift.</a:t>
            </a:r>
            <a:r>
              <a:rPr lang="es-MX" sz="1100" dirty="0">
                <a:solidFill>
                  <a:srgbClr val="475569"/>
                </a:solidFill>
                <a:latin typeface="Calibri"/>
              </a:rPr>
              <a:t> Q1 2024 Digital Trust &amp; Safety Index. Tasa de chargebacks MX 2.81%.</a:t>
            </a:r>
          </a:p>
          <a:p>
            <a:pPr marL="171450" indent="-171450">
              <a:spcAft>
                <a:spcPts val="100"/>
              </a:spcAft>
              <a:buFont typeface="Arial"/>
              <a:buChar char="•"/>
            </a:pPr>
            <a:r>
              <a:rPr lang="es-MX" sz="1100" b="1" dirty="0">
                <a:solidFill>
                  <a:srgbClr val="475569"/>
                </a:solidFill>
                <a:latin typeface="Calibri"/>
              </a:rPr>
              <a:t>Chargeflow.</a:t>
            </a:r>
            <a:r>
              <a:rPr lang="es-MX" sz="1100" dirty="0">
                <a:solidFill>
                  <a:srgbClr val="475569"/>
                </a:solidFill>
                <a:latin typeface="Calibri"/>
              </a:rPr>
              <a:t> 2024 State of Chargebacks Report. Win rate 9% fraude verdadero, 44% friendly fraud.</a:t>
            </a:r>
          </a:p>
          <a:p>
            <a:pPr marL="171450" indent="-171450">
              <a:spcAft>
                <a:spcPts val="100"/>
              </a:spcAft>
              <a:buFont typeface="Arial"/>
              <a:buChar char="•"/>
            </a:pPr>
            <a:r>
              <a:rPr lang="es-MX" sz="1100" b="1" dirty="0">
                <a:solidFill>
                  <a:srgbClr val="475569"/>
                </a:solidFill>
                <a:latin typeface="Calibri"/>
              </a:rPr>
              <a:t>LexisNexis Risk Solutions.</a:t>
            </a:r>
            <a:r>
              <a:rPr lang="es-MX" sz="1100" dirty="0">
                <a:solidFill>
                  <a:srgbClr val="475569"/>
                </a:solidFill>
                <a:latin typeface="Calibri"/>
              </a:rPr>
              <a:t> True Cost of Fraud Study 2024. Multiplicador $4.61 por cada $1 de fraude.</a:t>
            </a:r>
          </a:p>
          <a:p>
            <a:pPr marL="171450" indent="-171450">
              <a:spcAft>
                <a:spcPts val="100"/>
              </a:spcAft>
              <a:buFont typeface="Arial"/>
              <a:buChar char="•"/>
            </a:pPr>
            <a:r>
              <a:rPr lang="es-MX" sz="1100" b="1" dirty="0">
                <a:solidFill>
                  <a:srgbClr val="475569"/>
                </a:solidFill>
                <a:latin typeface="Calibri"/>
              </a:rPr>
              <a:t>MRC.</a:t>
            </a:r>
            <a:r>
              <a:rPr lang="es-MX" sz="1100" dirty="0">
                <a:solidFill>
                  <a:srgbClr val="475569"/>
                </a:solidFill>
                <a:latin typeface="Calibri"/>
              </a:rPr>
              <a:t> 2025 Global eCommerce Payments &amp; Fraud Report. LATAM gasta 19% del revenue en gestión de fraude.</a:t>
            </a:r>
          </a:p>
          <a:p>
            <a:pPr marL="171450" indent="-171450">
              <a:spcAft>
                <a:spcPts val="100"/>
              </a:spcAft>
              <a:buFont typeface="Arial"/>
              <a:buChar char="•"/>
            </a:pPr>
            <a:r>
              <a:rPr lang="es-MX" sz="1100" b="1" dirty="0">
                <a:solidFill>
                  <a:srgbClr val="475569"/>
                </a:solidFill>
                <a:latin typeface="Calibri"/>
              </a:rPr>
              <a:t>Adyen.</a:t>
            </a:r>
            <a:r>
              <a:rPr lang="es-MX" sz="1100" dirty="0">
                <a:solidFill>
                  <a:srgbClr val="475569"/>
                </a:solidFill>
                <a:latin typeface="Calibri"/>
              </a:rPr>
              <a:t> State of Mexican Retail Report 2024. 91% de chargebacks MX por sospecha de fraude.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AF27195E-4AB2-2740-AEB0-D60413A0194C}"/>
              </a:ext>
            </a:extLst>
          </p:cNvPr>
          <p:cNvSpPr txBox="1"/>
          <p:nvPr/>
        </p:nvSpPr>
        <p:spPr>
          <a:xfrm>
            <a:off x="4724400" y="609600"/>
            <a:ext cx="4114800" cy="3149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marL="0" indent="0">
              <a:spcAft>
                <a:spcPts val="200"/>
              </a:spcAft>
              <a:buNone/>
            </a:pPr>
            <a:r>
              <a:rPr lang="es-MX" sz="1100" b="1" dirty="0">
                <a:solidFill>
                  <a:srgbClr val="028090"/>
                </a:solidFill>
                <a:latin typeface="Calibri"/>
              </a:rPr>
              <a:t>Competencia y tamaño de mercado</a:t>
            </a:r>
          </a:p>
          <a:p>
            <a:pPr marL="171450" indent="-171450">
              <a:spcAft>
                <a:spcPts val="100"/>
              </a:spcAft>
              <a:buFont typeface="Arial"/>
              <a:buChar char="•"/>
            </a:pPr>
            <a:r>
              <a:rPr lang="es-MX" sz="1100" b="1" dirty="0">
                <a:solidFill>
                  <a:srgbClr val="475569"/>
                </a:solidFill>
                <a:latin typeface="Calibri"/>
              </a:rPr>
              <a:t>Fortune Business Insights.</a:t>
            </a:r>
            <a:r>
              <a:rPr lang="es-MX" sz="1100" dirty="0">
                <a:solidFill>
                  <a:srgbClr val="475569"/>
                </a:solidFill>
                <a:latin typeface="Calibri"/>
              </a:rPr>
              <a:t> LATAM Fraud Detection &amp; Prevention Market 2025-2034. CAGR 15.6%, USD $1.37B → $5.08B.</a:t>
            </a:r>
          </a:p>
          <a:p>
            <a:pPr marL="171450" indent="-171450">
              <a:spcAft>
                <a:spcPts val="100"/>
              </a:spcAft>
              <a:buFont typeface="Arial"/>
              <a:buChar char="•"/>
            </a:pPr>
            <a:r>
              <a:rPr lang="es-MX" sz="1100" b="1" dirty="0">
                <a:solidFill>
                  <a:srgbClr val="475569"/>
                </a:solidFill>
                <a:latin typeface="Calibri"/>
              </a:rPr>
              <a:t>Reuters.</a:t>
            </a:r>
            <a:r>
              <a:rPr lang="es-MX" sz="1100" dirty="0">
                <a:solidFill>
                  <a:srgbClr val="475569"/>
                </a:solidFill>
                <a:latin typeface="Calibri"/>
              </a:rPr>
              <a:t> Experian to acquire ClearSale for USD $350M. Octubre 2024.</a:t>
            </a:r>
          </a:p>
          <a:p>
            <a:pPr marL="171450" indent="-171450">
              <a:spcAft>
                <a:spcPts val="100"/>
              </a:spcAft>
              <a:buFont typeface="Arial"/>
              <a:buChar char="•"/>
            </a:pPr>
            <a:r>
              <a:rPr lang="es-MX" sz="1100" b="1" dirty="0">
                <a:solidFill>
                  <a:srgbClr val="475569"/>
                </a:solidFill>
                <a:latin typeface="Calibri"/>
              </a:rPr>
              <a:t>Conekta.</a:t>
            </a:r>
            <a:r>
              <a:rPr lang="es-MX" sz="1100" dirty="0">
                <a:solidFill>
                  <a:srgbClr val="475569"/>
                </a:solidFill>
                <a:latin typeface="Calibri"/>
              </a:rPr>
              <a:t> Documentación pública de Fortress Antifraud.</a:t>
            </a:r>
          </a:p>
          <a:p>
            <a:pPr marL="171450" indent="-171450">
              <a:spcAft>
                <a:spcPts val="100"/>
              </a:spcAft>
              <a:buFont typeface="Arial"/>
              <a:buChar char="•"/>
            </a:pPr>
            <a:r>
              <a:rPr lang="es-MX" sz="1100" b="1" dirty="0">
                <a:solidFill>
                  <a:srgbClr val="475569"/>
                </a:solidFill>
                <a:latin typeface="Calibri"/>
              </a:rPr>
              <a:t>Signifyd, Riskified, Sift.</a:t>
            </a:r>
            <a:r>
              <a:rPr lang="es-MX" sz="1100" dirty="0">
                <a:solidFill>
                  <a:srgbClr val="475569"/>
                </a:solidFill>
                <a:latin typeface="Calibri"/>
              </a:rPr>
              <a:t> Sitios web oficiales (modelo enterprise).</a:t>
            </a:r>
          </a:p>
          <a:p>
            <a:pPr marL="0" indent="0">
              <a:spcBef>
                <a:spcPts val="400"/>
              </a:spcBef>
              <a:spcAft>
                <a:spcPts val="200"/>
              </a:spcAft>
              <a:buNone/>
            </a:pPr>
            <a:r>
              <a:rPr lang="es-MX" sz="1100" b="1" dirty="0">
                <a:solidFill>
                  <a:srgbClr val="028090"/>
                </a:solidFill>
                <a:latin typeface="Calibri"/>
              </a:rPr>
              <a:t>Marco regulatorio mexicano</a:t>
            </a:r>
          </a:p>
          <a:p>
            <a:pPr marL="171450" indent="-171450">
              <a:spcAft>
                <a:spcPts val="100"/>
              </a:spcAft>
              <a:buFont typeface="Arial"/>
              <a:buChar char="•"/>
            </a:pPr>
            <a:r>
              <a:rPr lang="es-MX" sz="1100" b="1" dirty="0">
                <a:solidFill>
                  <a:srgbClr val="475569"/>
                </a:solidFill>
                <a:latin typeface="Calibri"/>
              </a:rPr>
              <a:t>DOF.</a:t>
            </a:r>
            <a:r>
              <a:rPr lang="es-MX" sz="1100" dirty="0">
                <a:solidFill>
                  <a:srgbClr val="475569"/>
                </a:solidFill>
                <a:latin typeface="Calibri"/>
              </a:rPr>
              <a:t> Ley Federal de Protección de Datos Personales en Posesión de los Particulares (LFPDPPP).</a:t>
            </a:r>
          </a:p>
          <a:p>
            <a:pPr marL="171450" indent="-171450">
              <a:spcAft>
                <a:spcPts val="100"/>
              </a:spcAft>
              <a:buFont typeface="Arial"/>
              <a:buChar char="•"/>
            </a:pPr>
            <a:r>
              <a:rPr lang="es-MX" sz="1100" b="1" dirty="0">
                <a:solidFill>
                  <a:srgbClr val="475569"/>
                </a:solidFill>
                <a:latin typeface="Calibri"/>
              </a:rPr>
              <a:t>CNBV.</a:t>
            </a:r>
            <a:r>
              <a:rPr lang="es-MX" sz="1100" dirty="0">
                <a:solidFill>
                  <a:srgbClr val="475569"/>
                </a:solidFill>
                <a:latin typeface="Calibri"/>
              </a:rPr>
              <a:t> Disposiciones de Carácter General sobre Outsourcing Financiero, 2024.</a:t>
            </a:r>
          </a:p>
          <a:p>
            <a:pPr marL="171450" indent="-171450">
              <a:spcAft>
                <a:spcPts val="100"/>
              </a:spcAft>
              <a:buFont typeface="Arial"/>
              <a:buChar char="•"/>
            </a:pPr>
            <a:r>
              <a:rPr lang="es-MX" sz="1100" b="1" dirty="0">
                <a:solidFill>
                  <a:srgbClr val="475569"/>
                </a:solidFill>
                <a:latin typeface="Calibri"/>
              </a:rPr>
              <a:t>DOF.</a:t>
            </a:r>
            <a:r>
              <a:rPr lang="es-MX" sz="1100" dirty="0">
                <a:solidFill>
                  <a:srgbClr val="475569"/>
                </a:solidFill>
                <a:latin typeface="Calibri"/>
              </a:rPr>
              <a:t> Ley para Regular las Instituciones de Tecnología Financiera (Ley Fintech 2.0).</a:t>
            </a:r>
          </a:p>
          <a:p>
            <a:pPr marL="0" indent="0">
              <a:spcBef>
                <a:spcPts val="400"/>
              </a:spcBef>
              <a:spcAft>
                <a:spcPts val="200"/>
              </a:spcAft>
              <a:buNone/>
            </a:pPr>
            <a:r>
              <a:rPr lang="es-MX" sz="1100" b="1" dirty="0">
                <a:solidFill>
                  <a:srgbClr val="028090"/>
                </a:solidFill>
                <a:latin typeface="Calibri"/>
              </a:rPr>
              <a:t>Modelo y técnica</a:t>
            </a:r>
          </a:p>
          <a:p>
            <a:pPr marL="171450" indent="-171450">
              <a:spcAft>
                <a:spcPts val="100"/>
              </a:spcAft>
              <a:buFont typeface="Arial"/>
              <a:buChar char="•"/>
            </a:pPr>
            <a:r>
              <a:rPr lang="es-MX" sz="1100" b="1" dirty="0">
                <a:solidFill>
                  <a:srgbClr val="475569"/>
                </a:solidFill>
                <a:latin typeface="Calibri"/>
              </a:rPr>
              <a:t>Kaggle.</a:t>
            </a:r>
            <a:r>
              <a:rPr lang="es-MX" sz="1100" dirty="0">
                <a:solidFill>
                  <a:srgbClr val="475569"/>
                </a:solidFill>
                <a:latin typeface="Calibri"/>
              </a:rPr>
              <a:t> Credit Card Transactions Fraud Detection Dataset (kartik2112). 1.3M transacciones.</a:t>
            </a:r>
          </a:p>
          <a:p>
            <a:pPr marL="171450" indent="-171450">
              <a:spcAft>
                <a:spcPts val="100"/>
              </a:spcAft>
              <a:buFont typeface="Arial"/>
              <a:buChar char="•"/>
            </a:pPr>
            <a:r>
              <a:rPr lang="es-MX" sz="1100" dirty="0">
                <a:solidFill>
                  <a:srgbClr val="475569"/>
                </a:solidFill>
                <a:latin typeface="Calibri"/>
              </a:rPr>
              <a:t>Documentación técnica del proyecto: methodology.md, model_evaluation.md, architecture_decisions.md.</a:t>
            </a:r>
          </a:p>
          <a:p>
            <a:pPr marL="171450" indent="-171450">
              <a:spcAft>
                <a:spcPts val="100"/>
              </a:spcAft>
              <a:buFont typeface="Arial"/>
              <a:buChar char="•"/>
            </a:pPr>
            <a:r>
              <a:rPr lang="es-MX" sz="1100" dirty="0">
                <a:solidFill>
                  <a:srgbClr val="475569"/>
                </a:solidFill>
                <a:latin typeface="Calibri"/>
              </a:rPr>
              <a:t>XGBoost 2.1, Optuna 4.8, MLflow 2.22, SHAP 0.49 — librerías open-source.</a:t>
            </a:r>
          </a:p>
        </p:txBody>
      </p:sp>
      <p:sp>
        <p:nvSpPr>
          <p:cNvPr id="8" name="Rectángulo redondeado 7">
            <a:extLst>
              <a:ext uri="{FF2B5EF4-FFF2-40B4-BE49-F238E27FC236}">
                <a16:creationId xmlns:a16="http://schemas.microsoft.com/office/drawing/2014/main" id="{3F3EB29B-5E36-184B-9A0A-567860F010C1}"/>
              </a:ext>
            </a:extLst>
          </p:cNvPr>
          <p:cNvSpPr/>
          <p:nvPr/>
        </p:nvSpPr>
        <p:spPr>
          <a:xfrm>
            <a:off x="457200" y="4381500"/>
            <a:ext cx="8382000" cy="406400"/>
          </a:xfrm>
          <a:prstGeom prst="roundRect">
            <a:avLst/>
          </a:prstGeom>
          <a:solidFill>
            <a:srgbClr val="F8FAFC"/>
          </a:solidFill>
          <a:ln w="6350" cap="flat" cmpd="sng" algn="ctr">
            <a:solidFill>
              <a:srgbClr val="E2E8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MX"/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B66647D7-05D8-6F44-8BDD-22B8BC695FEE}"/>
              </a:ext>
            </a:extLst>
          </p:cNvPr>
          <p:cNvSpPr txBox="1"/>
          <p:nvPr/>
        </p:nvSpPr>
        <p:spPr>
          <a:xfrm>
            <a:off x="558800" y="4419600"/>
            <a:ext cx="81788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s-MX" sz="800" i="1">
                <a:solidFill>
                  <a:srgbClr val="94A3B8"/>
                </a:solidFill>
                <a:latin typeface="Calibri"/>
                <a:cs typeface="Calibri"/>
              </a:rPr>
              <a:t>Todas las cifras de mercado son verificables en sus fuentes originales al momento de la presentación (mayo 2026). Las cifras del modelo provienen del split de validación y test del dataset Kaggle.</a:t>
            </a:r>
          </a:p>
        </p:txBody>
      </p:sp>
    </p:spTree>
    <p:extLst>
      <p:ext uri="{BB962C8B-B14F-4D97-AF65-F5344CB8AC3E}">
        <p14:creationId xmlns:p14="http://schemas.microsoft.com/office/powerpoint/2010/main" val="4172749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B3D4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0" y="1371600"/>
            <a:ext cx="914400" cy="9144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246888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Gracias</a:t>
            </a:r>
            <a:endParaRPr lang="en-US" sz="6400" dirty="0"/>
          </a:p>
        </p:txBody>
      </p:sp>
      <p:sp>
        <p:nvSpPr>
          <p:cNvPr id="5" name="Text 2"/>
          <p:cNvSpPr/>
          <p:nvPr/>
        </p:nvSpPr>
        <p:spPr>
          <a:xfrm>
            <a:off x="457200" y="33832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i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Preguntas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457200" y="45262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Documentos de respaldo: customer_journey · arquitectura_realtime · governance_explainability · kpis_financieros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4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APENDICE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Municion preparada para Q&amp;A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402336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5" name="Shape 3"/>
          <p:cNvSpPr/>
          <p:nvPr/>
        </p:nvSpPr>
        <p:spPr>
          <a:xfrm>
            <a:off x="457200" y="1325880"/>
            <a:ext cx="365760" cy="365760"/>
          </a:xfrm>
          <a:prstGeom prst="roundRect">
            <a:avLst>
              <a:gd name="adj" fmla="val 10000"/>
            </a:avLst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6" name="Text 4"/>
          <p:cNvSpPr/>
          <p:nvPr/>
        </p:nvSpPr>
        <p:spPr>
          <a:xfrm>
            <a:off x="457200" y="13258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A1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914400" y="137160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scale_pos_weight=176 vs SMOTE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94360" y="173736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tecnicamente correcta: re-pondera el gradiente sin sintetizar muestras.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63440" y="1325880"/>
            <a:ext cx="402336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10" name="Shape 8"/>
          <p:cNvSpPr/>
          <p:nvPr/>
        </p:nvSpPr>
        <p:spPr>
          <a:xfrm>
            <a:off x="4663440" y="1325880"/>
            <a:ext cx="365760" cy="365760"/>
          </a:xfrm>
          <a:prstGeom prst="roundRect">
            <a:avLst>
              <a:gd name="adj" fmla="val 10000"/>
            </a:avLst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11" name="Text 9"/>
          <p:cNvSpPr/>
          <p:nvPr/>
        </p:nvSpPr>
        <p:spPr>
          <a:xfrm>
            <a:off x="4663440" y="13258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120640" y="137160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Hiperparametros Optuna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00600" y="173736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max_depth=10, lr=0.193, min_child_weight=89.8, subsample=0.97, gamma=4.78.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7200" y="2423160"/>
            <a:ext cx="402336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15" name="Shape 13"/>
          <p:cNvSpPr/>
          <p:nvPr/>
        </p:nvSpPr>
        <p:spPr>
          <a:xfrm>
            <a:off x="457200" y="2423160"/>
            <a:ext cx="365760" cy="365760"/>
          </a:xfrm>
          <a:prstGeom prst="roundRect">
            <a:avLst>
              <a:gd name="adj" fmla="val 10000"/>
            </a:avLst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16" name="Text 14"/>
          <p:cNvSpPr/>
          <p:nvPr/>
        </p:nvSpPr>
        <p:spPr>
          <a:xfrm>
            <a:off x="45720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A3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914400" y="246888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Quien paga el contracargo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94360" y="283464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comercio. Pierde monto + comision USD 20-100 + fee original. Solo 21% gana disputa.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663440" y="2423160"/>
            <a:ext cx="402336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20" name="Shape 18"/>
          <p:cNvSpPr/>
          <p:nvPr/>
        </p:nvSpPr>
        <p:spPr>
          <a:xfrm>
            <a:off x="4663440" y="2423160"/>
            <a:ext cx="365760" cy="365760"/>
          </a:xfrm>
          <a:prstGeom prst="roundRect">
            <a:avLst>
              <a:gd name="adj" fmla="val 10000"/>
            </a:avLst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21" name="Text 19"/>
          <p:cNvSpPr/>
          <p:nvPr/>
        </p:nvSpPr>
        <p:spPr>
          <a:xfrm>
            <a:off x="466344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A4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120640" y="246888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Marco regulatorio MX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800600" y="283464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LFPDPPP (datos), CNBV outsourcing (2024), Ley Fintech 2.0 (clasif. riesgo IA).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57200" y="3520440"/>
            <a:ext cx="402336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25" name="Shape 23"/>
          <p:cNvSpPr/>
          <p:nvPr/>
        </p:nvSpPr>
        <p:spPr>
          <a:xfrm>
            <a:off x="457200" y="3520440"/>
            <a:ext cx="365760" cy="365760"/>
          </a:xfrm>
          <a:prstGeom prst="roundRect">
            <a:avLst>
              <a:gd name="adj" fmla="val 10000"/>
            </a:avLst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26" name="Text 24"/>
          <p:cNvSpPr/>
          <p:nvPr/>
        </p:nvSpPr>
        <p:spPr>
          <a:xfrm>
            <a:off x="457200" y="3520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A5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914400" y="356616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Salvedad: dataset semi-sintetico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94360" y="393192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produccion esperar PR-AUC 0.55-0.70 primer mes vs 0.87 en evaluacion.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663440" y="3520440"/>
            <a:ext cx="402336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30" name="Shape 28"/>
          <p:cNvSpPr/>
          <p:nvPr/>
        </p:nvSpPr>
        <p:spPr>
          <a:xfrm>
            <a:off x="4663440" y="3520440"/>
            <a:ext cx="365760" cy="365760"/>
          </a:xfrm>
          <a:prstGeom prst="roundRect">
            <a:avLst>
              <a:gd name="adj" fmla="val 10000"/>
            </a:avLst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31" name="Text 29"/>
          <p:cNvSpPr/>
          <p:nvPr/>
        </p:nvSpPr>
        <p:spPr>
          <a:xfrm>
            <a:off x="4663440" y="3520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A6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120640" y="356616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Ratio analista / PyMEs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4800600" y="393192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analista atiende 20-50 PyMEs. 60-100 casos/sem manejables. Sensibilidad calibra el volumen.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229600" y="4864608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 / 23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457200" y="486460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FraudShield · Capstone DS · 2026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6E8FAA21-72A7-6843-8B6A-39EFACFCD981}">
  <we:reference id="wa200010001" version="1.0.0.1" store="es-MX" storeType="OMEX"/>
  <we:alternateReferences>
    <we:reference id="WA200010001" version="1.0.0.1" store="WA200010001" storeType="OMEX"/>
  </we:alternateReferences>
  <we:properties>
    <we:property name="claude.fileId" value="&quot;3ffc482a-560b-46cb-80bc-e1d9e66b68ae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1345</TotalTime>
  <Words>2742</Words>
  <Application>Microsoft Macintosh PowerPoint</Application>
  <PresentationFormat>Presentación en pantalla (16:9)</PresentationFormat>
  <Paragraphs>444</Paragraphs>
  <Slides>21</Slides>
  <Notes>20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FraudShield — Servicio gestionado de antifraude para PyMEs e-commerce</dc:title>
  <dc:subject>PptxGenJS Presentation</dc:subject>
  <dc:creator>Capstone Data Science</dc:creator>
  <cp:lastModifiedBy>Adolfo Yunes Silva</cp:lastModifiedBy>
  <cp:revision>5</cp:revision>
  <dcterms:created xsi:type="dcterms:W3CDTF">2026-05-07T06:05:02Z</dcterms:created>
  <dcterms:modified xsi:type="dcterms:W3CDTF">2026-05-08T12:21:47Z</dcterms:modified>
</cp:coreProperties>
</file>
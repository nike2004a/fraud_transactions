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0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3" r:id="rId24"/>
    <p:sldId id="277" r:id="rId25"/>
    <p:sldId id="278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7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s-MX" sz="1100" b="0" i="0" u="none" strike="noStrike">
                <a:solidFill>
                  <a:srgbClr val="1E293B"/>
                </a:solidFill>
                <a:latin typeface="Arial"/>
              </a:rPr>
              <a:t>Costo total operando en cada threshold (val)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total (USD val)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868-4049-B78E-D2FEEAB831E0}"/>
              </c:ext>
            </c:extLst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68-4049-B78E-D2FEEAB831E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F1* (0.6642)</c:v>
                </c:pt>
                <c:pt idx="1">
                  <c:v>Min costo (0.52)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65730</c:v>
                </c:pt>
                <c:pt idx="1">
                  <c:v>18032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868-4049-B78E-D2FEEAB831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399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gestionado de antifraude</a:t>
            </a:r>
            <a:endParaRPr lang="en-US" sz="30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pequeñas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e-commerce mexicanas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Capturamos el 94% del fraude — sin que la PyME opere nada.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Data Science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fraude en e-commerce mexicano es masivo y crece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$3,410M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en contracargos en e-commerce mexicano (2024)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CONDUSEF vía Tiendanube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0" y="1463040"/>
            <a:ext cx="13258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983480" y="155448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83480" y="2176272"/>
            <a:ext cx="123444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fraude e-commerce MX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55080" y="1463040"/>
            <a:ext cx="13258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176272"/>
            <a:ext cx="123444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revenue se gasta en fraude (LATAM)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0" y="1463040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7818120" y="155448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$4.61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818120" y="2176272"/>
            <a:ext cx="8229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perdido por cada $1 de fraude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2788920"/>
            <a:ext cx="374904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029200" y="2834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es la región del mundo que más gasta en gestión de fraude.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se está resolviendo: el fraude crece más rápido que las herramientas para combatirlo.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PyMEs e-commerce, cada contracargo representa entre el 0.5% y el 2% de su facturación mensual.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RAÍZ · 5 WHYS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problema no se resuelve para PyMEs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7589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PyME pierde dinero por fraude?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Porque acepta pagos sin un filtro real adecuado.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6654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48640" y="2066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2002536"/>
            <a:ext cx="7589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1234440" y="204825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tiene un filtro adecuado?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Porque su procesador (Conekta, MP) ofrece ML genérico, no servicio dedicado.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97280" y="2633472"/>
            <a:ext cx="7589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234440" y="267919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le dan algo más fuerte?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Porque su volumen no justifica un equipo de fraude propio o un enterprise contract.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28416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48640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97280" y="3264408"/>
            <a:ext cx="7589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234440" y="331012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hay opciones managed para PyMEs?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Porque ClearSale, Signifyd, Riskified apuntan a clientes &gt;$10M USD/año.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5935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48640" y="3959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97280" y="3895344"/>
            <a:ext cx="75895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1234440" y="394106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nadie ataca este segmento?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Porque la cola larga es difícil de servir con costos enterprise. Hueco estructural.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comercio paga el contracargo, no el banco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14246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5142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 de tarjeta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80590" y="1751076"/>
            <a:ext cx="146304" cy="109728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2136038" y="1417320"/>
            <a:ext cx="151424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136038" y="1508760"/>
            <a:ext cx="15142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emisor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36038" y="1828800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comprador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9429" y="1751076"/>
            <a:ext cx="146304" cy="109728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814877" y="1417320"/>
            <a:ext cx="1514246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814877" y="1508760"/>
            <a:ext cx="15142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/ Master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14877" y="1828800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tarjetas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38267" y="1751076"/>
            <a:ext cx="146304" cy="109728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5493715" y="1417320"/>
            <a:ext cx="1514246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493715" y="1508760"/>
            <a:ext cx="15142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Adquirente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93715" y="1828800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Conekta, MP, Stripe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17106" y="1751076"/>
            <a:ext cx="146304" cy="109728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7172554" y="1417320"/>
            <a:ext cx="1514246" cy="777240"/>
          </a:xfrm>
          <a:prstGeom prst="roundRect">
            <a:avLst>
              <a:gd name="adj" fmla="val 9412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7172554" y="1508760"/>
            <a:ext cx="15142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72554" y="1828800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al final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Reclama  →  2. Inicia contracargo  →  3. Notifica  →  4. Retira fondos del comercio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pierde la PyME en cada contracargo: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3337560"/>
            <a:ext cx="7680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completo de la transacción + mercadería ya enviada.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de chargeback de USD $20–100 (la cobra el emisor, no se reembolsa).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original de procesamiento (no se reembolsa aunque gane la disputa).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</a:t>
            </a:r>
            <a:r>
              <a:rPr lang="en-US" sz="1200" b="1" dirty="0" err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40% de las disputas se ganan globalmente. El resto: pérdida total.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TARGET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 e-commerce que están solas frente al fraude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297680" cy="3246120"/>
          </a:xfrm>
          <a:prstGeom prst="roundRect">
            <a:avLst>
              <a:gd name="adj" fmla="val 225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cliente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negocio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33172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 e-commerce mexicana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33172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Shopify, Tiendanube, WooCommerce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33172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– 2,000 transacciones/mes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3063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total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33172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5 personas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429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antifraude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331720" y="3429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(no se lo pueden permitir)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331720" y="3794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del e-commerce o junior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4160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técnico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331720" y="4160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 en fraude / ML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3776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del segmento en México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937760" y="1783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498348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4983480" y="2377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online en MX (INEGI)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858000" y="1783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/>
          <p:nvPr/>
        </p:nvSpPr>
        <p:spPr>
          <a:xfrm>
            <a:off x="690372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67.2M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6903720" y="2377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compradores online MX (AMVO 2024)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937760" y="27889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6"/>
          <p:cNvSpPr/>
          <p:nvPr/>
        </p:nvSpPr>
        <p:spPr>
          <a:xfrm>
            <a:off x="4983480" y="2880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$789,700M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4983480" y="3383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e-commerce MX 2024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858000" y="27889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9"/>
          <p:cNvSpPr/>
          <p:nvPr/>
        </p:nvSpPr>
        <p:spPr>
          <a:xfrm>
            <a:off x="6903720" y="2880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$756</a:t>
            </a:r>
            <a:endParaRPr lang="en-US" sz="3200" dirty="0"/>
          </a:p>
        </p:txBody>
      </p:sp>
      <p:sp>
        <p:nvSpPr>
          <p:cNvPr id="33" name="Text 30"/>
          <p:cNvSpPr/>
          <p:nvPr/>
        </p:nvSpPr>
        <p:spPr>
          <a:xfrm>
            <a:off x="6903720" y="3383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 MXN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937760" y="3822192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950208"/>
            <a:ext cx="256032" cy="25603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440680" y="3886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larga desatendida: las soluciones existentes apuntan a clientes &gt;$10M USD/año.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PROPUESTA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gestionado de antifraude — no software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PyME no opera nada. Nosotros nos encargamos.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513332" y="1719072"/>
            <a:ext cx="493776" cy="493776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513332" y="17190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23317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asistida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3246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 checkout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566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equipo conecta la API a su Shopify / Tiendanube / WooCommerce en 2-4 horas. Cero código del lado del cliente.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9659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4393692" y="1719072"/>
            <a:ext cx="493776" cy="493776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4393692" y="17190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980" y="23317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automáticas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74720" y="3246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+ analista interno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20440" y="3566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decide en &lt;300ms. Casos ambiguos los revisa nuestro analista de fraude. Cliente fuera del loop.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17920" y="19659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7274052" y="1719072"/>
            <a:ext cx="493776" cy="493776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7274052" y="17190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40" y="233172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5508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quincenal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355080" y="3246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email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0" y="3566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15 días el cliente recibe el resumen: cuánto le ahorramos + razón de cada caso revisado por el analista.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paga para olvidarse del problema, no para aprender a operar otro software.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momentos del </a:t>
            </a:r>
            <a:r>
              <a:rPr lang="en-US" sz="2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856232"/>
            <a:ext cx="67665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67512" y="1609344"/>
            <a:ext cx="493776" cy="493776"/>
          </a:xfrm>
          <a:prstGeom prst="ellipse">
            <a:avLst/>
          </a:prstGeom>
          <a:solidFill>
            <a:srgbClr val="FB718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667512" y="16093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" y="777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Descubre 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" y="228600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 contracargo del mes. Busca solución, encuentra nuestro sitio.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59152" y="1609344"/>
            <a:ext cx="493776" cy="49377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359152" y="16093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777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asistida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228600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inicial 30 min. Nuestro equipo integra la API en 2-4 hrs.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50792" y="1609344"/>
            <a:ext cx="493776" cy="49377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050792" y="16093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777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28600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15: llega el reporte por email. Ve casos resueltos, decisiones explicadas.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42432" y="1609344"/>
            <a:ext cx="493776" cy="493776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742432" y="16093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12080" y="777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28600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su negocio. Cada 15 días recibe el reporte. WhatsApp si dudas.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34072" y="1609344"/>
            <a:ext cx="493776" cy="493776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7434072" y="16093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03720" y="777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Renueva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228600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reportes muestran ROI. Switching cost alto: la API ya vive en su checkout.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clave: la PyME no opera el sistema. Solo recibe la integración, los reportes y respuestas a sus dudas.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RECIBE EL CLIENTE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quincenal por email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731520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08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QUINCENAL DE PROTECCION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417320" y="1709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Aurora · 16 al 30 de abril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49440" y="1600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8/26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97280" y="2103120"/>
            <a:ext cx="6949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1097280" y="2240280"/>
            <a:ext cx="225552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1143000" y="2331720"/>
            <a:ext cx="21640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$8,420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143000" y="2745486"/>
            <a:ext cx="216408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ahorramos (MXN)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44240" y="2240280"/>
            <a:ext cx="225552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3489960" y="2331720"/>
            <a:ext cx="21640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3489960" y="2745486"/>
            <a:ext cx="216408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revisados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91200" y="2240280"/>
            <a:ext cx="225552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5836920" y="2331720"/>
            <a:ext cx="21640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5836920" y="2745486"/>
            <a:ext cx="216408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97280" y="3154680"/>
            <a:ext cx="694944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1188720" y="3200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312 pedidos: 305 aprobados auto · 4 bloqueados auto · 3 escalados al analista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97280" y="3657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revisados por tu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(Bernardo del Rio)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097280" y="3977640"/>
            <a:ext cx="694944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1188720" y="402336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#4821 · $2,450 MXN  </a:t>
            </a: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5x sobre el promedio · 03:42 AM · Tarjeta nunca compro desde esta ciudad.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intento contactar al titular, no respondio. Patron clasico de tarjeta robada.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 NUESTRO ANALISTA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interna de revision de casos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325880"/>
            <a:ext cx="64008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64592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#4821 · $2,450 MXN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18745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****1234 · ELECTRONICA_XYZ · 03:42 AM · CDMX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0" y="2240280"/>
            <a:ext cx="5852160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783080" y="228600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el modelo escalo esta transaccion: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53288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5x superior al promedio de esta tarjeta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a las 03:42 - el fraude se concentra en horario nocturno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tarjeta nunca habia comprado desde esta ciudad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3246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(ultimas 5 tx): $180 · $220 · $95 · $310 · $2,450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0" y="3657600"/>
            <a:ext cx="1691640" cy="384048"/>
          </a:xfrm>
          <a:prstGeom prst="roundRect">
            <a:avLst>
              <a:gd name="adj" fmla="val 11905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645920" y="36576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3657600"/>
            <a:ext cx="1691640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474720" y="36576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3657600"/>
            <a:ext cx="270662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303520" y="3657600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Contactar al titular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0" y="4160520"/>
            <a:ext cx="58521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1737360" y="41879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 obligatoria: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(aparecera textual en el reporte quincenal del cliente)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TECNICA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real-time end-to-end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5813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55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1466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checkout PyME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9910" y="1965960"/>
            <a:ext cx="100584" cy="914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2125066" y="1554480"/>
            <a:ext cx="1558138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125066" y="1719072"/>
            <a:ext cx="155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70786" y="2057400"/>
            <a:ext cx="1466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features anti-leakage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87775" y="1965960"/>
            <a:ext cx="100584" cy="914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792931" y="1554480"/>
            <a:ext cx="1558138" cy="9144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792931" y="1719072"/>
            <a:ext cx="155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38651" y="2057400"/>
            <a:ext cx="1466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SHAP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55641" y="1965960"/>
            <a:ext cx="100584" cy="914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5460797" y="1554480"/>
            <a:ext cx="1558138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460797" y="1719072"/>
            <a:ext cx="155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06517" y="2057400"/>
            <a:ext cx="1466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approve/escalate/block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23506" y="1965960"/>
            <a:ext cx="100584" cy="914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7128662" y="1554480"/>
            <a:ext cx="1558138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7128662" y="1719072"/>
            <a:ext cx="155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74382" y="2057400"/>
            <a:ext cx="1466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interno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300 ms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end-to-end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32004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Model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tx/s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59436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por instancia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640080" y="395020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 retroalimentacion: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del analista -&gt; label -&gt; re-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trimestral.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quincenal al cliente con cada caso documentado.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caminos segun score del modelo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Auto-aprobar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riesgo, no friccionar al cliente legitimo. ~85% de las transacciones.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8980" y="14173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406140" y="1645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&lt;= Score &lt; 0.85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06140" y="2057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al analista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5186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ambigua. Nuestro analista revisa con SHAP + contexto. ~13% del volumen.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217920" y="1645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&gt;= 0.85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057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Auto-bloquear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6364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confianza de fraude. El costo de un FP se justifica. ~2% del volumen.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40080" y="4096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operativo del modelo: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0.6642 (F1 max sobre val). 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en zona de escalamiento - el analista decide. El threshold de minimo costo (0.52) ahorra 73% vs el academico.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27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&amp; tuning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23317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=176  (no SMOTE)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 trials + MedianPruner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Calibrador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probabilístico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(regression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isontónica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54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6200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features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474720" y="2057400"/>
            <a:ext cx="23317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Monto: log1p, p95 legit-train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hour, dow, sin/cos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Geografica: distancia, velocidad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rolling 1h/24h/7d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 KFold (4 cols)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41732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5544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Anti-leakage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309360" y="2057400"/>
            <a:ext cx="23317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closed='left' (excluye tx actual)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calculado solo en legitimas-train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 KFold + fit en train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temporales 70/15/15 (no random)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tests passing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full pipeline: ~10 min en GPU NVIDIA RTX 4060.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EFA84A0B-FC23-720F-7883-35347C55B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isotónica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del 94% revisando solo el 1% del volumen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fraudes capturados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revisando el 1% mas sospechoso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(recall@1% en split test)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417320"/>
            <a:ext cx="4114800" cy="310896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 en test (n=193,365)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20116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0.8771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7804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base 0.58% -&gt; random ~0.006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239572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0.9923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2395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 del dataset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27797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thr*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77977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78040" y="27797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 operativo = 0.6642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31638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@ thr*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31638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78040" y="316382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de 100 alertas son fraude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3547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@ 1%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35478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3547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top-1% concentra 94x mas fraude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val-&gt;test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39319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pts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931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overfit en split temporal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AFA727F3-4767-E74F-94D7-16CF6B7DF6D9}"/>
              </a:ext>
            </a:extLst>
          </p:cNvPr>
          <p:cNvSpPr/>
          <p:nvPr/>
        </p:nvSpPr>
        <p:spPr>
          <a:xfrm>
            <a:off x="4749800" y="1270000"/>
            <a:ext cx="4191000" cy="3238500"/>
          </a:xfrm>
          <a:prstGeom prst="roundRect">
            <a:avLst/>
          </a:prstGeom>
          <a:solidFill>
            <a:srgbClr val="02809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MX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B8038E27-26BC-2448-94B1-E083DE5C187D}"/>
              </a:ext>
            </a:extLst>
          </p:cNvPr>
          <p:cNvSpPr/>
          <p:nvPr/>
        </p:nvSpPr>
        <p:spPr>
          <a:xfrm>
            <a:off x="457200" y="1270000"/>
            <a:ext cx="4191000" cy="323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7E3E308-8448-D841-9BF6-B7E10836D075}"/>
              </a:ext>
            </a:extLst>
          </p:cNvPr>
          <p:cNvSpPr txBox="1"/>
          <p:nvPr/>
        </p:nvSpPr>
        <p:spPr>
          <a:xfrm>
            <a:off x="457200" y="2921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000" b="1">
                <a:solidFill>
                  <a:srgbClr val="028090"/>
                </a:solidFill>
                <a:latin typeface="Calibri"/>
                <a:cs typeface="Calibri"/>
              </a:rPr>
              <a:t>MODELO DE NEGOCIO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64DDBA-2835-874A-9D13-B623C982C1CF}"/>
              </a:ext>
            </a:extLst>
          </p:cNvPr>
          <p:cNvSpPr txBox="1"/>
          <p:nvPr/>
        </p:nvSpPr>
        <p:spPr>
          <a:xfrm>
            <a:off x="457200" y="609600"/>
            <a:ext cx="8229600" cy="584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2200" b="1">
                <a:solidFill>
                  <a:srgbClr val="1E293B"/>
                </a:solidFill>
                <a:latin typeface="Calibri"/>
                <a:cs typeface="Calibri"/>
              </a:rPr>
              <a:t>Que ahorramos al cliente y que gana FraudShield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90802F5-D2A1-EA48-BEF7-A3EA40155176}"/>
              </a:ext>
            </a:extLst>
          </p:cNvPr>
          <p:cNvSpPr txBox="1"/>
          <p:nvPr/>
        </p:nvSpPr>
        <p:spPr>
          <a:xfrm>
            <a:off x="635000" y="1346200"/>
            <a:ext cx="3886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 b="1">
                <a:solidFill>
                  <a:srgbClr val="1E293B"/>
                </a:solidFill>
                <a:latin typeface="Calibri"/>
                <a:cs typeface="Calibri"/>
              </a:rPr>
              <a:t>PyME típica (1,100 tx/mes)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0C969D7-B7FD-7246-87A3-B8766107CB3F}"/>
              </a:ext>
            </a:extLst>
          </p:cNvPr>
          <p:cNvSpPr txBox="1"/>
          <p:nvPr/>
        </p:nvSpPr>
        <p:spPr>
          <a:xfrm>
            <a:off x="635000" y="1612900"/>
            <a:ext cx="3886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800">
                <a:solidFill>
                  <a:srgbClr val="94A3B8"/>
                </a:solidFill>
                <a:latin typeface="Calibri"/>
                <a:cs typeface="Calibri"/>
              </a:rPr>
              <a:t>Mediana del rango target 200-2,000 tx/mes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6DF54D-A0BD-AE45-9073-522E099F4AF6}"/>
              </a:ext>
            </a:extLst>
          </p:cNvPr>
          <p:cNvSpPr txBox="1"/>
          <p:nvPr/>
        </p:nvSpPr>
        <p:spPr>
          <a:xfrm>
            <a:off x="635000" y="1828800"/>
            <a:ext cx="1778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64748B"/>
                </a:solidFill>
                <a:latin typeface="Calibri"/>
                <a:cs typeface="Calibri"/>
              </a:rPr>
              <a:t>Volumen mensual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7E9D5CC-FFF3-EC4F-8C47-EB031CCEB743}"/>
              </a:ext>
            </a:extLst>
          </p:cNvPr>
          <p:cNvSpPr txBox="1"/>
          <p:nvPr/>
        </p:nvSpPr>
        <p:spPr>
          <a:xfrm>
            <a:off x="2438400" y="1828800"/>
            <a:ext cx="2133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64748B"/>
                </a:solidFill>
                <a:latin typeface="Calibri"/>
                <a:cs typeface="Calibri"/>
              </a:rPr>
              <a:t>1,100 tx × $1,231 = $1.35M MXN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CBCF039-08B5-264B-A534-491697E3DDD6}"/>
              </a:ext>
            </a:extLst>
          </p:cNvPr>
          <p:cNvSpPr txBox="1"/>
          <p:nvPr/>
        </p:nvSpPr>
        <p:spPr>
          <a:xfrm>
            <a:off x="635000" y="2070100"/>
            <a:ext cx="1778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64748B"/>
                </a:solidFill>
                <a:latin typeface="Calibri"/>
                <a:cs typeface="Calibri"/>
              </a:rPr>
              <a:t>Tasa fraude MX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3441CC6-DBD6-E140-8F83-0C5CBAB0B95E}"/>
              </a:ext>
            </a:extLst>
          </p:cNvPr>
          <p:cNvSpPr txBox="1"/>
          <p:nvPr/>
        </p:nvSpPr>
        <p:spPr>
          <a:xfrm>
            <a:off x="2438400" y="2070100"/>
            <a:ext cx="2133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64748B"/>
                </a:solidFill>
                <a:latin typeface="Calibri"/>
                <a:cs typeface="Calibri"/>
              </a:rPr>
              <a:t>2.81% → 31 fraudes/mes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06DCC0C-4706-444E-B861-DCFECFD715B1}"/>
              </a:ext>
            </a:extLst>
          </p:cNvPr>
          <p:cNvSpPr txBox="1"/>
          <p:nvPr/>
        </p:nvSpPr>
        <p:spPr>
          <a:xfrm>
            <a:off x="635000" y="2311400"/>
            <a:ext cx="1778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64748B"/>
                </a:solidFill>
                <a:latin typeface="Calibri"/>
                <a:cs typeface="Calibri"/>
              </a:rPr>
              <a:t>Perdida bruta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6C0C9E5-F505-FD49-9928-D1C0895827B7}"/>
              </a:ext>
            </a:extLst>
          </p:cNvPr>
          <p:cNvSpPr txBox="1"/>
          <p:nvPr/>
        </p:nvSpPr>
        <p:spPr>
          <a:xfrm>
            <a:off x="2438400" y="2311400"/>
            <a:ext cx="2133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64748B"/>
                </a:solidFill>
                <a:latin typeface="Calibri"/>
                <a:cs typeface="Calibri"/>
              </a:rPr>
              <a:t>$38,161 MXN/mes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5D1980A-ABD9-2E47-B163-0CBC55293F29}"/>
              </a:ext>
            </a:extLst>
          </p:cNvPr>
          <p:cNvSpPr txBox="1"/>
          <p:nvPr/>
        </p:nvSpPr>
        <p:spPr>
          <a:xfrm>
            <a:off x="635000" y="2552700"/>
            <a:ext cx="1778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64748B"/>
                </a:solidFill>
                <a:latin typeface="Calibri"/>
                <a:cs typeface="Calibri"/>
              </a:rPr>
              <a:t>Costo indirecto (1.5x)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3739E28-7B3F-9A40-993D-ACFAA5EBD52F}"/>
              </a:ext>
            </a:extLst>
          </p:cNvPr>
          <p:cNvSpPr txBox="1"/>
          <p:nvPr/>
        </p:nvSpPr>
        <p:spPr>
          <a:xfrm>
            <a:off x="2438400" y="2552700"/>
            <a:ext cx="2133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64748B"/>
                </a:solidFill>
                <a:latin typeface="Calibri"/>
                <a:cs typeface="Calibri"/>
              </a:rPr>
              <a:t>+$19,080 MXN (fees, ops)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9207CF6-0C85-E245-B608-67BBC17770CF}"/>
              </a:ext>
            </a:extLst>
          </p:cNvPr>
          <p:cNvSpPr txBox="1"/>
          <p:nvPr/>
        </p:nvSpPr>
        <p:spPr>
          <a:xfrm>
            <a:off x="635000" y="2819400"/>
            <a:ext cx="1778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 b="1">
                <a:solidFill>
                  <a:srgbClr val="1E293B"/>
                </a:solidFill>
                <a:latin typeface="Calibri"/>
                <a:cs typeface="Calibri"/>
              </a:rPr>
              <a:t>Sin FraudShield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E1291D0-8BA3-924B-A8D8-52107363F9FF}"/>
              </a:ext>
            </a:extLst>
          </p:cNvPr>
          <p:cNvSpPr txBox="1"/>
          <p:nvPr/>
        </p:nvSpPr>
        <p:spPr>
          <a:xfrm>
            <a:off x="2438400" y="2819400"/>
            <a:ext cx="2133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DC2626"/>
                </a:solidFill>
                <a:latin typeface="Calibri"/>
                <a:cs typeface="Calibri"/>
              </a:rPr>
              <a:t>$57,241 MXN/mes perdidos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1DE7A021-A83A-0D46-90EB-4011E467D5EE}"/>
              </a:ext>
            </a:extLst>
          </p:cNvPr>
          <p:cNvSpPr/>
          <p:nvPr/>
        </p:nvSpPr>
        <p:spPr>
          <a:xfrm>
            <a:off x="635000" y="3238500"/>
            <a:ext cx="3886200" cy="10795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BBF7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MX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2FE7CD-4680-2C40-AF9F-6BCFF50F429E}"/>
              </a:ext>
            </a:extLst>
          </p:cNvPr>
          <p:cNvSpPr txBox="1"/>
          <p:nvPr/>
        </p:nvSpPr>
        <p:spPr>
          <a:xfrm>
            <a:off x="736600" y="3302000"/>
            <a:ext cx="3632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 b="1">
                <a:solidFill>
                  <a:srgbClr val="1E293B"/>
                </a:solidFill>
                <a:latin typeface="Calibri"/>
                <a:cs typeface="Calibri"/>
              </a:rPr>
              <a:t>Con FraudShield (94% recall):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9137F21-9379-624D-A04D-A0D8CBB41311}"/>
              </a:ext>
            </a:extLst>
          </p:cNvPr>
          <p:cNvSpPr txBox="1"/>
          <p:nvPr/>
        </p:nvSpPr>
        <p:spPr>
          <a:xfrm>
            <a:off x="736600" y="3517900"/>
            <a:ext cx="36322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2800" b="1">
                <a:solidFill>
                  <a:srgbClr val="028090"/>
                </a:solidFill>
                <a:latin typeface="Calibri"/>
                <a:cs typeface="Calibri"/>
              </a:rPr>
              <a:t>$53,807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2BFE278-B422-B446-ABA3-945AC5DE7CFD}"/>
              </a:ext>
            </a:extLst>
          </p:cNvPr>
          <p:cNvSpPr txBox="1"/>
          <p:nvPr/>
        </p:nvSpPr>
        <p:spPr>
          <a:xfrm>
            <a:off x="736600" y="3937000"/>
            <a:ext cx="3632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800">
                <a:solidFill>
                  <a:srgbClr val="028090"/>
                </a:solidFill>
                <a:latin typeface="Calibri"/>
                <a:cs typeface="Calibri"/>
              </a:rPr>
              <a:t>MXN ahorrados/mes  ·  ROI 12x sobre la suscripción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A48F692-432A-0941-85F8-889A6B89E2FA}"/>
              </a:ext>
            </a:extLst>
          </p:cNvPr>
          <p:cNvSpPr txBox="1"/>
          <p:nvPr/>
        </p:nvSpPr>
        <p:spPr>
          <a:xfrm>
            <a:off x="4927600" y="1346200"/>
            <a:ext cx="3886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 b="1">
                <a:solidFill>
                  <a:srgbClr val="FFFFFF"/>
                </a:solidFill>
                <a:latin typeface="Calibri"/>
                <a:cs typeface="Calibri"/>
              </a:rPr>
              <a:t>Negocio FraudShield (100 clientes)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C108B3D-5E60-974D-92C3-43B575773637}"/>
              </a:ext>
            </a:extLst>
          </p:cNvPr>
          <p:cNvSpPr txBox="1"/>
          <p:nvPr/>
        </p:nvSpPr>
        <p:spPr>
          <a:xfrm>
            <a:off x="4927600" y="1612900"/>
            <a:ext cx="3886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800">
                <a:solidFill>
                  <a:srgbClr val="B2DFDB"/>
                </a:solidFill>
                <a:latin typeface="Calibri"/>
                <a:cs typeface="Calibri"/>
              </a:rPr>
              <a:t>Unit economics mensuales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E1D8E9D-2625-344C-8EB7-C9E70371D794}"/>
              </a:ext>
            </a:extLst>
          </p:cNvPr>
          <p:cNvSpPr txBox="1"/>
          <p:nvPr/>
        </p:nvSpPr>
        <p:spPr>
          <a:xfrm>
            <a:off x="4927600" y="18288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E0F2F1"/>
                </a:solidFill>
                <a:latin typeface="Calibri"/>
                <a:cs typeface="Calibri"/>
              </a:rPr>
              <a:t>Suscripción/cliente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FD0AC59-74D8-B54D-B2D5-17CDB2316EE6}"/>
              </a:ext>
            </a:extLst>
          </p:cNvPr>
          <p:cNvSpPr txBox="1"/>
          <p:nvPr/>
        </p:nvSpPr>
        <p:spPr>
          <a:xfrm>
            <a:off x="6959600" y="1828800"/>
            <a:ext cx="1879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FFFFFF"/>
                </a:solidFill>
                <a:latin typeface="Calibri"/>
                <a:cs typeface="Calibri"/>
              </a:rPr>
              <a:t>$4,500 MXN/mes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3A8394D-094F-A04F-B7C7-5590EC418ACA}"/>
              </a:ext>
            </a:extLst>
          </p:cNvPr>
          <p:cNvSpPr txBox="1"/>
          <p:nvPr/>
        </p:nvSpPr>
        <p:spPr>
          <a:xfrm>
            <a:off x="4927600" y="20701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E0F2F1"/>
                </a:solidFill>
                <a:latin typeface="Calibri"/>
                <a:cs typeface="Calibri"/>
              </a:rPr>
              <a:t>Revenue total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A1E757C-6183-DB46-BDCD-7FF1C49C613B}"/>
              </a:ext>
            </a:extLst>
          </p:cNvPr>
          <p:cNvSpPr txBox="1"/>
          <p:nvPr/>
        </p:nvSpPr>
        <p:spPr>
          <a:xfrm>
            <a:off x="6959600" y="2070100"/>
            <a:ext cx="1879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FFFFFF"/>
                </a:solidFill>
                <a:latin typeface="Calibri"/>
                <a:cs typeface="Calibri"/>
              </a:rPr>
              <a:t>$450,000 MXN/mes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238ED3-74A6-094D-ABDA-B43F4C710A7F}"/>
              </a:ext>
            </a:extLst>
          </p:cNvPr>
          <p:cNvSpPr txBox="1"/>
          <p:nvPr/>
        </p:nvSpPr>
        <p:spPr>
          <a:xfrm>
            <a:off x="4927600" y="23114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E0F2F1"/>
                </a:solidFill>
                <a:latin typeface="Calibri"/>
                <a:cs typeface="Calibri"/>
              </a:rPr>
              <a:t>Analistas (5)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4975966-E3E3-C54B-B300-A445BBF21F0A}"/>
              </a:ext>
            </a:extLst>
          </p:cNvPr>
          <p:cNvSpPr txBox="1"/>
          <p:nvPr/>
        </p:nvSpPr>
        <p:spPr>
          <a:xfrm>
            <a:off x="6959600" y="2311400"/>
            <a:ext cx="1879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FFFFFF"/>
                </a:solidFill>
                <a:latin typeface="Calibri"/>
                <a:cs typeface="Calibri"/>
              </a:rPr>
              <a:t>~$125,000 MXN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1F5556F-5B56-DB40-80DB-E7CC94958E98}"/>
              </a:ext>
            </a:extLst>
          </p:cNvPr>
          <p:cNvSpPr txBox="1"/>
          <p:nvPr/>
        </p:nvSpPr>
        <p:spPr>
          <a:xfrm>
            <a:off x="4927600" y="25527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E0F2F1"/>
                </a:solidFill>
                <a:latin typeface="Calibri"/>
                <a:cs typeface="Calibri"/>
              </a:rPr>
              <a:t>Infra + modelo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815780C-49A0-B248-8E35-230F6E8E5097}"/>
              </a:ext>
            </a:extLst>
          </p:cNvPr>
          <p:cNvSpPr txBox="1"/>
          <p:nvPr/>
        </p:nvSpPr>
        <p:spPr>
          <a:xfrm>
            <a:off x="6959600" y="2552700"/>
            <a:ext cx="1879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FFFFFF"/>
                </a:solidFill>
                <a:latin typeface="Calibri"/>
                <a:cs typeface="Calibri"/>
              </a:rPr>
              <a:t>~$125,000 MXN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F1F5872-87B1-CC45-B947-F38793885E4D}"/>
              </a:ext>
            </a:extLst>
          </p:cNvPr>
          <p:cNvSpPr txBox="1"/>
          <p:nvPr/>
        </p:nvSpPr>
        <p:spPr>
          <a:xfrm>
            <a:off x="4927600" y="27940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E0F2F1"/>
                </a:solidFill>
                <a:latin typeface="Calibri"/>
                <a:cs typeface="Calibri"/>
              </a:rPr>
              <a:t>Costo operativo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B88C1DC-71C4-644B-AA39-74FAD0E6EFAF}"/>
              </a:ext>
            </a:extLst>
          </p:cNvPr>
          <p:cNvSpPr txBox="1"/>
          <p:nvPr/>
        </p:nvSpPr>
        <p:spPr>
          <a:xfrm>
            <a:off x="6959600" y="2794000"/>
            <a:ext cx="1879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FFFFFF"/>
                </a:solidFill>
                <a:latin typeface="Calibri"/>
                <a:cs typeface="Calibri"/>
              </a:rPr>
              <a:t>~$250,000 MXN</a:t>
            </a:r>
          </a:p>
        </p:txBody>
      </p:sp>
      <p:sp>
        <p:nvSpPr>
          <p:cNvPr id="36" name="Rectángulo redondeado 35">
            <a:extLst>
              <a:ext uri="{FF2B5EF4-FFF2-40B4-BE49-F238E27FC236}">
                <a16:creationId xmlns:a16="http://schemas.microsoft.com/office/drawing/2014/main" id="{C22790C9-BC63-5049-91B7-59CADC2518AC}"/>
              </a:ext>
            </a:extLst>
          </p:cNvPr>
          <p:cNvSpPr/>
          <p:nvPr/>
        </p:nvSpPr>
        <p:spPr>
          <a:xfrm>
            <a:off x="4927600" y="3238500"/>
            <a:ext cx="3886200" cy="1079500"/>
          </a:xfrm>
          <a:prstGeom prst="roundRect">
            <a:avLst/>
          </a:prstGeom>
          <a:solidFill>
            <a:srgbClr val="016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MX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F4F0332-2271-8642-AC25-324F3C761FAE}"/>
              </a:ext>
            </a:extLst>
          </p:cNvPr>
          <p:cNvSpPr txBox="1"/>
          <p:nvPr/>
        </p:nvSpPr>
        <p:spPr>
          <a:xfrm>
            <a:off x="5029200" y="3302000"/>
            <a:ext cx="3632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E0F2F1"/>
                </a:solidFill>
                <a:latin typeface="Calibri"/>
                <a:cs typeface="Calibri"/>
              </a:rPr>
              <a:t>Margen bruto: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57C2329-C69C-1941-A1C1-627F10DD16CE}"/>
              </a:ext>
            </a:extLst>
          </p:cNvPr>
          <p:cNvSpPr txBox="1"/>
          <p:nvPr/>
        </p:nvSpPr>
        <p:spPr>
          <a:xfrm>
            <a:off x="5029200" y="3517900"/>
            <a:ext cx="36322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2800" b="1">
                <a:solidFill>
                  <a:srgbClr val="FFFFFF"/>
                </a:solidFill>
                <a:latin typeface="Calibri"/>
                <a:cs typeface="Calibri"/>
              </a:rPr>
              <a:t>$200,000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4F6FC56-4F0C-244A-B560-83C0086D6548}"/>
              </a:ext>
            </a:extLst>
          </p:cNvPr>
          <p:cNvSpPr txBox="1"/>
          <p:nvPr/>
        </p:nvSpPr>
        <p:spPr>
          <a:xfrm>
            <a:off x="5029200" y="3937000"/>
            <a:ext cx="3632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800">
                <a:solidFill>
                  <a:srgbClr val="B2DFDB"/>
                </a:solidFill>
                <a:latin typeface="Calibri"/>
                <a:cs typeface="Calibri"/>
              </a:rPr>
              <a:t>MXN/mes  ·  44% margen  ·  $2.4M MXN/año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240A2CF3-C240-8B48-B6F4-08B54A356E2F}"/>
              </a:ext>
            </a:extLst>
          </p:cNvPr>
          <p:cNvSpPr txBox="1"/>
          <p:nvPr/>
        </p:nvSpPr>
        <p:spPr>
          <a:xfrm>
            <a:off x="457200" y="4572000"/>
            <a:ext cx="8229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600">
                <a:solidFill>
                  <a:srgbClr val="94A3B8"/>
                </a:solidFill>
                <a:latin typeface="Calibri"/>
                <a:cs typeface="Calibri"/>
              </a:rPr>
              <a:t>Supuestos: tasa fraude MX 2.81% (SIR Q1 2024) · ticket prom $1,231 MXN (RankingsLatam) · multiplier 1.5x (LexisNexis 2024 $4.61/$1) · recall 94% (modelo en test) · pricing 8% del ahorro al cliente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AD24C1C5-07EC-0444-90BC-E6D55EB524D4}"/>
              </a:ext>
            </a:extLst>
          </p:cNvPr>
          <p:cNvCxnSpPr/>
          <p:nvPr/>
        </p:nvCxnSpPr>
        <p:spPr>
          <a:xfrm>
            <a:off x="635000" y="2768600"/>
            <a:ext cx="3886200" cy="914400"/>
          </a:xfrm>
          <a:prstGeom prst="straightConnector1">
            <a:avLst/>
          </a:prstGeom>
          <a:ln w="9525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174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COSTO-BENEFICIO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threshold de negocio ahorra 73% vs el threshold academico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7160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5760720" y="1463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$47,698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760720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USD en val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60720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(-73% vs F1 max)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2880360"/>
            <a:ext cx="2926080" cy="1417320"/>
          </a:xfrm>
          <a:prstGeom prst="roundRect">
            <a:avLst>
              <a:gd name="adj" fmla="val 387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5897880" y="29443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Asunciones del modelo de costo: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0" y="32004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monto de la transaccion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$5 USD (revision manual)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de threshold sobre val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threshold optimo es mas bajo (mas recall) porque el dolor por dejar pasar fraude es proporcional al monto.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EXPLAINABILITY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pilares que sustentan el servicio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Proteccion de datos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tokenizada · LFPDPPP · retencion limitada · consentimiento explicito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87752" y="14173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132" y="16002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79192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modelo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724912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 · SHAP por decision · razon humana en reporte quincenal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718304" y="14173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684" y="16002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09744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55464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por estado · grupo etario · vertical · monitoreo trimestral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848856" y="14173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3236" y="16002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0296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Auditabilidad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986016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inmutable · trazabilidad · retencion 5 anios · reproducibilidad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34290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5"/>
          <p:cNvSpPr/>
          <p:nvPr/>
        </p:nvSpPr>
        <p:spPr>
          <a:xfrm>
            <a:off x="640080" y="34564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 end-to-end: API -&gt; Feature Store -&gt; Model API -&gt; Decision Engine -&gt; Case Management -&gt; Reporte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 w="635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7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regulatorio mexicano: </a:t>
            </a: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LFPDPPP (datos personales) · CNBV (outsourcing financiero) · Ley Fintech 2.0 (clasif. riesgo IA)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EN DETALLE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medimos y por 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!= tratar a todos igual. 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 que el modelo no comete errores sistematicamente mas frecuentes en ciertos grupos.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8229600" cy="1463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mide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Umbral de alerta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 por estado (32)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falsos positivos por entidad federativa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desviacion &gt;2x vs mediana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 por grupo etario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 por edad del titular (&lt;30 / 30-50 / 50+)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desviacion &gt;1.5x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 por vertical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 por categoria de comercio (top-10)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desviacion &gt;2x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por estado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sensibilidad del modelo por entidad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desviacion &gt;2x vs mediana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05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40690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 honesta: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usa target encoding por estado (te_state). Si historicamente ciertos estados tienen mas fraude, puede crear loop. Por eso medir FPR por estado es nuestra alerta mas importante.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DIFERENCIACION COMPETITIVA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 con la competencia real del mercado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268833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propio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Radar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Conekta Fortress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Signifyd / ClearSale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FraudShield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Quien opera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interno banco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Comerciante self-service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Comerciante + soporte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Nosotros (managed)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Esfuerzo cliente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(configurar)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(RFP + integracion)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Minimo (recibe reportes)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 de venta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Self-service inmediato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6-12 meses, RFP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+ setup en 5 dias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$0.05-0.07/tx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contracts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Suscripcion mensual fija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propia operacion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 merchant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&gt;$10M USD/anio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PyME 200-2K tx/mes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humano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(interno)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(analista enterprise)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(analista MX en espanol)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vende infraestructura para que otros operen. Nosotros operamos por el cliente. Es un producto distinto.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BARRERAS DE ENTRADA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entrar es dificil y por que replicarnos tambien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nos cuesta entrar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2011680"/>
            <a:ext cx="3611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Certificaciones tecnicas: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no aplica directo (no tocamos PAN), pero SOC 2 + ISO 27001 son requisitos.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Adquisicion de cliente: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venta de 5-7 dias con demo + integracion asistida. CAC alto inicial.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 con procesadores: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procesador (Conekta, MP, Stripe) es una integracion tecnica distinta.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analistas: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necesitamos analistas desde el dia uno. Estructura fija, no costo variable.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Deesventaja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en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en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infraestructura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: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los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recursos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los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monstruos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son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muy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superiores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a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los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nuestro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17720" y="132588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087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nos protege de copia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846320" y="2011680"/>
            <a:ext cx="3611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acumulados: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nuevo mejora el modelo para todos. Compounding effect.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humano integrado: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Stripe/Conekta no lo tienen. Bancos no lo escalan a PyMEs. Foso operativo.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 del cliente: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ya integrada en checkout. Cambiar implica re-integrar y operar a riesgo.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personal: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conoce a su analista por nombre. No es relacion con software.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4526280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0B3D43"/>
          </a:solidFill>
          <a:ln w="12700">
            <a:solidFill>
              <a:srgbClr val="0B3D4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640080" y="45262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del mercado: 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Experian compro ClearSale por USD $350M (oct 2024). Mercado fraud-detection LATAM crece 15.6% CAGR (USD 1.37B 2025 -&gt; USD 5.08B 2034).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SALVEDADES HONESTAS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es perfecto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Kaggle es semi-sintetico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produccion esperar PR-AUC 0.55-0.70 en el primer mes (vs 0.87 en evaluacion).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4825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984248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dominadas por monto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a smurfing: fraude que copia el monto tipico del titular puede pasar desapercibido.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61518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0292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51176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 del analista es parametro critico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sensibilidad genera 30 casos/sem por PyME, los costos del servicio explotan.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8211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0292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18104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positivo es nuestro mayor riesgo de marca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a un cliente legitimo recurrente dana la marca de la PyME y nos la cargan a nosotros.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685032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servicio concentra responsabilidad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self-service, cada error operativo es nuestro. Exige rigor de governance.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FUTURA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12-24 meses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361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el modelo entre clientes sin compartir datos. Cada PyME se beneficia del agregado.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18688" y="137160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53619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58768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fraud detection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01568" y="2057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transaccion-merchant-device-tarjeta como grafo. Captura fraud rings.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980176" y="137160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53619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0256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intelligence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163056" y="2057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fraude entre PyMEs (sin PII). Tarjeta marcada en una alerta a las demas.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0632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2783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246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Re-entreno incremental con chargebacks confirmados. Ajuste de sensibilidad near-real-time.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18688" y="30632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22783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58768" y="3246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para casos complejos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401568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asistido por LLM. Sintesis de contexto reduce tiempo de resolucion 4-8 min a 1-2 min.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5980176" y="30632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3227832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20256" y="3246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LATAM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163056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Replicar en Colombia, Argentina, Chile. Procesadores y plataformas similares.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D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Capturamos el 94% del fraude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revisando solo el 1% del volumen.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gestionado para PyMEs e-commerce mexicanas.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interno + modelo XGBoost + reporte quincenal.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PyME no opera nada, recibe la integracion y los resultados.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reproducible end-to-end · 14 tests passing · gap train-&gt;test = 1.2 pts PR-AUC.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6C0CDA7-1B8F-9942-B5E1-6BC0F6E65FC8}"/>
              </a:ext>
            </a:extLst>
          </p:cNvPr>
          <p:cNvSpPr txBox="1"/>
          <p:nvPr/>
        </p:nvSpPr>
        <p:spPr>
          <a:xfrm>
            <a:off x="457200" y="2921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000" b="1">
                <a:solidFill>
                  <a:srgbClr val="028090"/>
                </a:solidFill>
                <a:latin typeface="Calibri"/>
                <a:cs typeface="Calibri"/>
              </a:rPr>
              <a:t>FUENTES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D33CED-0EDA-2F46-8295-99D67954FBBD}"/>
              </a:ext>
            </a:extLst>
          </p:cNvPr>
          <p:cNvSpPr txBox="1"/>
          <p:nvPr/>
        </p:nvSpPr>
        <p:spPr>
          <a:xfrm>
            <a:off x="457200" y="6096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2200" b="1">
                <a:solidFill>
                  <a:srgbClr val="1E293B"/>
                </a:solidFill>
                <a:latin typeface="Calibri"/>
                <a:cs typeface="Calibri"/>
              </a:rPr>
              <a:t>Fuentes y referencias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51DDBD-16EE-914A-B8F5-91C0B0CE5C9E}"/>
              </a:ext>
            </a:extLst>
          </p:cNvPr>
          <p:cNvSpPr txBox="1"/>
          <p:nvPr/>
        </p:nvSpPr>
        <p:spPr>
          <a:xfrm>
            <a:off x="457200" y="48641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94A3B8"/>
                </a:solidFill>
                <a:latin typeface="Calibri"/>
                <a:cs typeface="Calibri"/>
              </a:rPr>
              <a:t>FraudShield · Capstone DS · 2026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DB61E9E-47EB-3748-9531-3E9DDC3345DE}"/>
              </a:ext>
            </a:extLst>
          </p:cNvPr>
          <p:cNvSpPr txBox="1"/>
          <p:nvPr/>
        </p:nvSpPr>
        <p:spPr>
          <a:xfrm>
            <a:off x="8229600" y="4864100"/>
            <a:ext cx="825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900">
                <a:solidFill>
                  <a:srgbClr val="94A3B8"/>
                </a:solidFill>
                <a:latin typeface="Calibri"/>
                <a:cs typeface="Calibri"/>
              </a:rPr>
              <a:t>25 / 25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E47CCF-96E6-2A4E-ACB9-A99EE8CDAD0C}"/>
              </a:ext>
            </a:extLst>
          </p:cNvPr>
          <p:cNvSpPr txBox="1"/>
          <p:nvPr/>
        </p:nvSpPr>
        <p:spPr>
          <a:xfrm>
            <a:off x="457200" y="1168400"/>
            <a:ext cx="4114800" cy="314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MX" sz="1100" b="1" dirty="0">
                <a:solidFill>
                  <a:srgbClr val="028090"/>
                </a:solidFill>
                <a:latin typeface="Calibri"/>
              </a:rPr>
              <a:t>Mercado e-commerce México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AMVO.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Estudio de Venta Online México 2024. 67.2M compradores online.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INEGI.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ENDUTIH 2024. ~80,000 tiendas online.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Banco de México vía RankingsLatam.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Insights into Mexico’s eCommerce Payments Landscape, sep 2024. Ticket prom $1,231 MXN; chargebacks 0.37%.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CONDUSEF (vía Tiendanube).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$3,410M MXN en contracargos e-commerce México 2024.</a:t>
            </a: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s-MX" sz="1100" b="1" dirty="0">
                <a:solidFill>
                  <a:srgbClr val="028090"/>
                </a:solidFill>
                <a:latin typeface="Calibri"/>
              </a:rPr>
              <a:t>Estadísticas de fraude y chargebacks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Sift.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Q1 2024 Digital Trust &amp; Safety Index. Tasa de chargebacks MX 2.81%.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Chargeflow.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2024 State of Chargebacks Report. Win rate 9% fraude verdadero, 44% friendly fraud.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LexisNexis Risk Solutions.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True Cost of Fraud Study 2024. Multiplicador $4.61 por cada $1 de fraude.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MRC.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2025 Global eCommerce Payments &amp; Fraud Report. LATAM gasta 19% del revenue en gestión de fraude.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Adyen.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State of Mexican Retail Report 2024. 91% de chargebacks MX por sospecha de fraude.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27195E-4AB2-2740-AEB0-D60413A0194C}"/>
              </a:ext>
            </a:extLst>
          </p:cNvPr>
          <p:cNvSpPr txBox="1"/>
          <p:nvPr/>
        </p:nvSpPr>
        <p:spPr>
          <a:xfrm>
            <a:off x="4724400" y="1168400"/>
            <a:ext cx="4114800" cy="314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MX" sz="1100" b="1" dirty="0">
                <a:solidFill>
                  <a:srgbClr val="028090"/>
                </a:solidFill>
                <a:latin typeface="Calibri"/>
              </a:rPr>
              <a:t>Competencia y tamaño de mercado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Fortune Business Insights.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LATAM Fraud Detection &amp; Prevention Market 2025-2034. CAGR 15.6%, USD $1.37B → $5.08B.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Reuters.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Experian to acquire ClearSale for USD $350M. Octubre 2024.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Conekta.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Documentación pública de Fortress Antifraud.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Signifyd, Riskified, Sift.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Sitios web oficiales (modelo enterprise).</a:t>
            </a: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s-MX" sz="1100" b="1" dirty="0">
                <a:solidFill>
                  <a:srgbClr val="028090"/>
                </a:solidFill>
                <a:latin typeface="Calibri"/>
              </a:rPr>
              <a:t>Marco regulatorio mexicano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DOF.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Ley Federal de Protección de Datos Personales en Posesión de los Particulares (LFPDPPP).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CNBV.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Disposiciones de Carácter General sobre Outsourcing Financiero, 2024.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DOF.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Ley para Regular las Instituciones de Tecnología Financiera (Ley Fintech 2.0).</a:t>
            </a: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s-MX" sz="1100" b="1" dirty="0">
                <a:solidFill>
                  <a:srgbClr val="028090"/>
                </a:solidFill>
                <a:latin typeface="Calibri"/>
              </a:rPr>
              <a:t>Modelo y técnica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b="1" dirty="0">
                <a:solidFill>
                  <a:srgbClr val="475569"/>
                </a:solidFill>
                <a:latin typeface="Calibri"/>
              </a:rPr>
              <a:t>Kaggle.</a:t>
            </a:r>
            <a:r>
              <a:rPr lang="es-MX" sz="800" dirty="0">
                <a:solidFill>
                  <a:srgbClr val="475569"/>
                </a:solidFill>
                <a:latin typeface="Calibri"/>
              </a:rPr>
              <a:t> Credit Card Transactions Fraud Detection Dataset (kartik2112). 1.3M transacciones.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dirty="0">
                <a:solidFill>
                  <a:srgbClr val="475569"/>
                </a:solidFill>
                <a:latin typeface="Calibri"/>
              </a:rPr>
              <a:t>Documentación técnica del proyecto: methodology.md, model_evaluation.md, architecture_decisions.md.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s-MX" sz="800" dirty="0">
                <a:solidFill>
                  <a:srgbClr val="475569"/>
                </a:solidFill>
                <a:latin typeface="Calibri"/>
              </a:rPr>
              <a:t>XGBoost 2.1, Optuna 4.8, MLflow 2.22, SHAP 0.49 — librerías open-source.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3F3EB29B-5E36-184B-9A0A-567860F010C1}"/>
              </a:ext>
            </a:extLst>
          </p:cNvPr>
          <p:cNvSpPr/>
          <p:nvPr/>
        </p:nvSpPr>
        <p:spPr>
          <a:xfrm>
            <a:off x="457200" y="4381500"/>
            <a:ext cx="8382000" cy="406400"/>
          </a:xfrm>
          <a:prstGeom prst="roundRect">
            <a:avLst/>
          </a:prstGeom>
          <a:solidFill>
            <a:srgbClr val="F8FAFC"/>
          </a:solidFill>
          <a:ln w="635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66647D7-05D8-6F44-8BDD-22B8BC695FEE}"/>
              </a:ext>
            </a:extLst>
          </p:cNvPr>
          <p:cNvSpPr txBox="1"/>
          <p:nvPr/>
        </p:nvSpPr>
        <p:spPr>
          <a:xfrm>
            <a:off x="558800" y="4419600"/>
            <a:ext cx="8178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800" i="1">
                <a:solidFill>
                  <a:srgbClr val="94A3B8"/>
                </a:solidFill>
                <a:latin typeface="Calibri"/>
                <a:cs typeface="Calibri"/>
              </a:rPr>
              <a:t>Todas las cifras de mercado son verificables en sus fuentes originales al momento de la presentación (mayo 2026). Las cifras del modelo provienen del split de validación y test del dataset Kaggle.</a:t>
            </a:r>
          </a:p>
        </p:txBody>
      </p:sp>
    </p:spTree>
    <p:extLst>
      <p:ext uri="{BB962C8B-B14F-4D97-AF65-F5344CB8AC3E}">
        <p14:creationId xmlns:p14="http://schemas.microsoft.com/office/powerpoint/2010/main" val="41727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D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 respaldo: customer_journey · arquitectura_realtime · governance_explainability · kpis_financieros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APENDICE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Municion preparada para Q&amp;A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scale_pos_weight=176 vs SMOTE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tecnicamente correcta: re-pondera el gradiente sin sintetizar muestras.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66344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Hiperparametros Optuna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737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max_depth=10, lr=0.193, min_child_weight=89.8, subsample=0.97, gamma=4.78.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paga el contracargo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comercio. Pierde monto + comision USD 20-100 + fee original. Solo 21% gana disputa.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4231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6634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regulatorio MX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LFPDPPP (datos), CNBV outsourcing (2024), Ley Fintech 2.0 (clasif. riesgo IA).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Salvedad: dataset semi-sintetico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produccion esperar PR-AUC 0.55-0.70 primer mes vs 0.87 en evaluacion.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52044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4663440" y="352044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466344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analista / PyMEs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analista atiende 20-50 PyMEs. 60-100 casos/sem manejables. Sensibilidad calibra el volumen.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· Capstone DS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E8FAA21-72A7-6843-8B6A-39EFACFCD981}">
  <we:reference id="wa200010001" version="1.0.0.1" store="es-MX" storeType="OMEX"/>
  <we:alternateReferences>
    <we:reference id="WA200010001" version="1.0.0.1" store="WA200010001" storeType="OMEX"/>
  </we:alternateReferences>
  <we:properties>
    <we:property name="claude.fileId" value="&quot;3ffc482a-560b-46cb-80bc-e1d9e66b68a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3279</Words>
  <Application>Microsoft Macintosh PowerPoint</Application>
  <PresentationFormat>Presentación en pantalla (16:9)</PresentationFormat>
  <Paragraphs>501</Paragraphs>
  <Slides>25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-webkit-standard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FraudShield — Servicio gestionado de antifraude para PyMEs e-commerce</dc:title>
  <dc:subject>PptxGenJS Presentation</dc:subject>
  <dc:creator>Capstone Data Science</dc:creator>
  <cp:lastModifiedBy>Adolfo Yunes Silva</cp:lastModifiedBy>
  <cp:revision>4</cp:revision>
  <dcterms:created xsi:type="dcterms:W3CDTF">2026-05-07T06:05:02Z</dcterms:created>
  <dcterms:modified xsi:type="dcterms:W3CDTF">2026-05-07T15:07:14Z</dcterms:modified>
</cp:coreProperties>
</file>